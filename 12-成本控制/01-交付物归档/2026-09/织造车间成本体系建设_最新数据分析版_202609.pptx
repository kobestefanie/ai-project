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8D3D1"/>
                </a:solidFill>
                <a:latin typeface="Microsoft YaHei"/>
              </a:defRPr>
            </a:pPr>
            <a:r>
              <a:t>织造车间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813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成本管理体系建设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31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EE5EA"/>
                </a:solidFill>
                <a:latin typeface="Microsoft YaHei"/>
              </a:defRPr>
            </a:pPr>
            <a:r>
              <a:t>4-7月最新数据差异分析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3127248"/>
            <a:ext cx="4754880" cy="36576"/>
          </a:xfrm>
          <a:prstGeom prst="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429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从“总成本变化”追到“超支发生在哪里”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61996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1C1CA"/>
                </a:solidFill>
                <a:latin typeface="Microsoft YaHei"/>
              </a:defRPr>
            </a:pPr>
            <a:r>
              <a:t>财务部｜2026年9月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01｜管理层结论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总体低于标准，不代表没有问题：6月出现集中性材料超耗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新版数据已具备标准成本、实际用量和异常备注，可以把问题落到具体品种。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19072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19072"/>
            <a:ext cx="73152" cy="1005840"/>
          </a:xfrm>
          <a:prstGeom prst="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5623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4-7月实际成本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6008.5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8716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累计生产量 116.6 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719072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719072"/>
            <a:ext cx="73152" cy="1005840"/>
          </a:xfrm>
          <a:prstGeom prst="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85623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相对标准成本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-137.3 万元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48716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-2.2%，4-5月节约抵消6-7月超支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1719072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53328" y="1719072"/>
            <a:ext cx="73152" cy="1005840"/>
          </a:xfrm>
          <a:prstGeom prst="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85623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6月净超支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112.0 万元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48716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单位成本 590.42 元/KG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6528" y="1719072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96528" y="1719072"/>
            <a:ext cx="73152" cy="1005840"/>
          </a:xfrm>
          <a:prstGeom prst="rect">
            <a:avLst/>
          </a:prstGeom>
          <a:solidFill>
            <a:srgbClr val="E0A43A"/>
          </a:solidFill>
          <a:ln>
            <a:solidFill>
              <a:srgbClr val="E0A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7" y="185623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备注异常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7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11 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7" y="248716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另有12条用量偏差&gt;10%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063240"/>
            <a:ext cx="11045952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33649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38B8F"/>
                </a:solidFill>
                <a:latin typeface="Microsoft YaHei"/>
              </a:defRPr>
            </a:pPr>
            <a:r>
              <a:t>最重要的三个判断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" y="3840479"/>
            <a:ext cx="91440" cy="9144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" y="3749039"/>
            <a:ext cx="9857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6月不是普遍性超支，主要是 26S 棉双纱、26S 棉平纹、24S 小圆筒三类异常。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" y="4315968"/>
            <a:ext cx="91440" cy="9144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" y="4224528"/>
            <a:ext cx="9857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三类异常在6月合计造成约131.6万元标准成本超支，超过当月净超支112.0万元。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" y="4791455"/>
            <a:ext cx="91440" cy="91440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" y="4700016"/>
            <a:ext cx="9857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下一步应先做在产品盘点和领料追溯，再讨论采购价格或工艺优化。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数据来源：最新成本核算汇总表（4-7月）；金额单位：元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02｜月度标准成本差异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4-5月节约，6月转为超支，7月接近标准但异常仍未消失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把“净差异”与“异常记录”同时看，避免被平均数掩盖。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640080" cy="411480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911095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月份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828800"/>
            <a:ext cx="594360" cy="411480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1911095"/>
            <a:ext cx="521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记录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828800"/>
            <a:ext cx="914400" cy="411480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73936" y="1911095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产量(吨)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828800"/>
            <a:ext cx="1097280" cy="411480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88336" y="1911095"/>
            <a:ext cx="10241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标准成本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1828800"/>
            <a:ext cx="1097280" cy="411480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1911095"/>
            <a:ext cx="10241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实际成本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828800"/>
            <a:ext cx="914400" cy="411480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1911095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差异(万)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1828800"/>
            <a:ext cx="914400" cy="411480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1911095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差异率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828800"/>
            <a:ext cx="1005840" cy="411480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1696" y="1911095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用纱差异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240280"/>
            <a:ext cx="6400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322576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2240280"/>
            <a:ext cx="594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576" y="2322576"/>
            <a:ext cx="521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2240280"/>
            <a:ext cx="914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73936" y="2322576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33.1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240280"/>
            <a:ext cx="10972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88336" y="2322576"/>
            <a:ext cx="10241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1658.3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2240280"/>
            <a:ext cx="10972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2322576"/>
            <a:ext cx="10241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1600.6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2240280"/>
            <a:ext cx="914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2322576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-57.7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2240280"/>
            <a:ext cx="914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2322576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-3.5%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2240280"/>
            <a:ext cx="1005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1696" y="2322576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-4.0%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651760"/>
            <a:ext cx="640080" cy="41148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" y="2734056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5月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2651760"/>
            <a:ext cx="594360" cy="41148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79576" y="2734056"/>
            <a:ext cx="521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37360" y="2651760"/>
            <a:ext cx="914400" cy="41148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73936" y="2734056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23.2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2651760"/>
            <a:ext cx="1097280" cy="41148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88336" y="2734056"/>
            <a:ext cx="10241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1279.2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39" y="2651760"/>
            <a:ext cx="1097280" cy="41148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85615" y="2734056"/>
            <a:ext cx="10241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1071.7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2651760"/>
            <a:ext cx="914400" cy="41148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82896" y="2734056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-207.5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720" y="2651760"/>
            <a:ext cx="914400" cy="41148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97296" y="2734056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-16.2%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2651760"/>
            <a:ext cx="1005840" cy="41148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11696" y="2734056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-18.4%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063240"/>
            <a:ext cx="6400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" y="3145536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3063240"/>
            <a:ext cx="594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79576" y="3145536"/>
            <a:ext cx="521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37360" y="3063240"/>
            <a:ext cx="914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73936" y="3145536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26.9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3063240"/>
            <a:ext cx="10972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88336" y="3145536"/>
            <a:ext cx="10241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1475.4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49039" y="3063240"/>
            <a:ext cx="10972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85615" y="3145536"/>
            <a:ext cx="10241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1587.5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46320" y="3063240"/>
            <a:ext cx="914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82896" y="3145536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+112.0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60720" y="3063240"/>
            <a:ext cx="914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97296" y="3145536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+7.6%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75120" y="3063240"/>
            <a:ext cx="1005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11696" y="3145536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+15.0%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3474720"/>
            <a:ext cx="640080" cy="41148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9496" y="3557015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7月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43000" y="3474720"/>
            <a:ext cx="594360" cy="41148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79576" y="3557015"/>
            <a:ext cx="521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737360" y="3474720"/>
            <a:ext cx="914400" cy="41148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773936" y="3557015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33.3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51760" y="3474720"/>
            <a:ext cx="1097280" cy="41148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88336" y="3557015"/>
            <a:ext cx="10241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1732.8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49039" y="3474720"/>
            <a:ext cx="1097280" cy="41148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85615" y="3557015"/>
            <a:ext cx="10241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1748.7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846320" y="3474720"/>
            <a:ext cx="914400" cy="41148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882896" y="3557015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+15.9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60720" y="3474720"/>
            <a:ext cx="914400" cy="41148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797296" y="3557015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+0.9%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675120" y="3474720"/>
            <a:ext cx="1005840" cy="411480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711696" y="3557015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+1.0%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02920" y="4617720"/>
            <a:ext cx="11155680" cy="1325880"/>
          </a:xfrm>
          <a:prstGeom prst="roundRect">
            <a:avLst/>
          </a:prstGeom>
          <a:solidFill>
            <a:srgbClr val="F0F7F6"/>
          </a:solidFill>
          <a:ln>
            <a:solidFill>
              <a:srgbClr val="C5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77240" y="48463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38B8F"/>
                </a:solidFill>
                <a:latin typeface="Microsoft YaHei"/>
              </a:defRPr>
            </a:pPr>
            <a:r>
              <a:t>差异解释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7240" y="5166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8"/>
                </a:solidFill>
                <a:latin typeface="Microsoft YaHei"/>
              </a:defRPr>
            </a:pPr>
            <a:r>
              <a:t>4-5月累计节约 -265.2 万元；6-7月累计超支 127.9 万元。6月实际用纱较标准高 15.0%，7月回落至 1.0%，但异常品种仍需单独追踪。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数据来源：最新成本核算汇总表（4-7月）；金额单位：元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03｜6月超支的根因线索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异常集中在“实际出库远超标准用纱”，备注指向在产品盘点或损耗问题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这里先呈现证据和管理假设，责任归因需要现场复核。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2286000" cy="47548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865376"/>
            <a:ext cx="2212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品种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783080"/>
            <a:ext cx="914400" cy="47548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6936" y="1865376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产量KG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783080"/>
            <a:ext cx="1005840" cy="47548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1336" y="1865376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超支(万)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783080"/>
            <a:ext cx="1005840" cy="47548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37176" y="1865376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成本偏差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783080"/>
            <a:ext cx="1005840" cy="47548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43016" y="1865376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用纱偏差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79" y="1783080"/>
            <a:ext cx="3108960" cy="47548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8855" y="1865376"/>
            <a:ext cx="3035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原因线索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258568"/>
            <a:ext cx="2286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2340863"/>
            <a:ext cx="2212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26S棉平纹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2258568"/>
            <a:ext cx="914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6936" y="2340863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868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2258568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31336" y="2340863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53.9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2258568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37176" y="2340863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100.6%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2258568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43016" y="2340863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106.5%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79" y="2258568"/>
            <a:ext cx="3108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48855" y="2340863"/>
            <a:ext cx="3035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在产品盘点/损耗待查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2734056"/>
            <a:ext cx="2286000" cy="47548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" y="2816352"/>
            <a:ext cx="2212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26S棉双纱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2734056"/>
            <a:ext cx="914400" cy="47548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16936" y="2816352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878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2734056"/>
            <a:ext cx="1005840" cy="47548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31336" y="2816352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53.4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2734056"/>
            <a:ext cx="1005840" cy="47548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37176" y="2816352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100.6%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6440" y="2734056"/>
            <a:ext cx="1005840" cy="47548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43016" y="2816352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106.5%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79" y="2734056"/>
            <a:ext cx="3108960" cy="47548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48855" y="2816352"/>
            <a:ext cx="3035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在产品盘点/损耗待查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3209544"/>
            <a:ext cx="2286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" y="3291839"/>
            <a:ext cx="2212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24S小圆筒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0360" y="3209544"/>
            <a:ext cx="914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16936" y="3291839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536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94760" y="3209544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31336" y="3291839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24.3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3209544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37176" y="3291839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82.0%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40" y="3209544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43016" y="3291839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120.6%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12279" y="3209544"/>
            <a:ext cx="3108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48855" y="3291839"/>
            <a:ext cx="3035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在产品盘点/损耗待查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685032"/>
            <a:ext cx="2286000" cy="47548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" y="3767328"/>
            <a:ext cx="2212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40D1*1罗纹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80360" y="3685032"/>
            <a:ext cx="914400" cy="47548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16936" y="3767328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7009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94760" y="3685032"/>
            <a:ext cx="1005840" cy="47548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31336" y="3767328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10.2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00600" y="3685032"/>
            <a:ext cx="1005840" cy="47548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37176" y="3767328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2.2%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06440" y="3685032"/>
            <a:ext cx="1005840" cy="47548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43016" y="3767328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4.1%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12279" y="3685032"/>
            <a:ext cx="3108960" cy="47548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48855" y="3767328"/>
            <a:ext cx="3035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需补充原因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" y="4160520"/>
            <a:ext cx="2286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" y="4242816"/>
            <a:ext cx="2212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30D1*1罗纹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80360" y="4160520"/>
            <a:ext cx="914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16936" y="4242816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3715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4160520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31336" y="4242816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8.3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00600" y="4160520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837176" y="4242816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3.5%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06440" y="4160520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43016" y="4242816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4.1%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12279" y="4160520"/>
            <a:ext cx="3108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48855" y="4242816"/>
            <a:ext cx="3035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需补充原因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4360" y="4800600"/>
            <a:ext cx="10972800" cy="1097280"/>
          </a:xfrm>
          <a:prstGeom prst="roundRect">
            <a:avLst/>
          </a:prstGeom>
          <a:solidFill>
            <a:srgbClr val="FFF6E5"/>
          </a:solidFill>
          <a:ln>
            <a:solidFill>
              <a:srgbClr val="F2D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8680" y="50109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E5B4B"/>
                </a:solidFill>
                <a:latin typeface="Microsoft YaHei"/>
              </a:defRPr>
            </a:pPr>
            <a:r>
              <a:t>控制判断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" y="5340096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8"/>
                </a:solidFill>
                <a:latin typeface="Microsoft YaHei"/>
              </a:defRPr>
            </a:pPr>
            <a:r>
              <a:t>26S 棉双纱与26S 棉平纹的实际用纱均约为标准的2.06倍；优先复核：期初在产品数量、当月领料单、剩余在产品、次品和织损记录。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数据来源：最新成本核算汇总表（4-7月）；金额单位：元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04｜重点品种排序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按“超支金额 × 可控性”排序，先处理异常金额最大的品种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单位成本偏差很高但金额很小的品种，先列入数据清理，不作为第一降本项目。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731520" cy="438912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11095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月份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828800"/>
            <a:ext cx="2468880" cy="438912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8176" y="1911095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异常品种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828800"/>
            <a:ext cx="1005840" cy="438912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77056" y="1911095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超支(万)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828800"/>
            <a:ext cx="1005840" cy="438912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1911095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成本偏差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828800"/>
            <a:ext cx="1005840" cy="438912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88736" y="1911095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用纱偏差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828800"/>
            <a:ext cx="914400" cy="438912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1911095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优先级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67712"/>
            <a:ext cx="7315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350008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2267712"/>
            <a:ext cx="2468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8176" y="235000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26S棉平纹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2267712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77056" y="2350008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53.9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267712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2350008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100.6%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2267712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88736" y="2350008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106.5%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2267712"/>
            <a:ext cx="914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2350008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706624"/>
            <a:ext cx="73152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2788920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2706624"/>
            <a:ext cx="24688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08176" y="2788920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26S棉双纱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706624"/>
            <a:ext cx="100584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77056" y="2788920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53.4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2706624"/>
            <a:ext cx="100584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82896" y="2788920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100.6%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2706624"/>
            <a:ext cx="100584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88736" y="2788920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106.5%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2706624"/>
            <a:ext cx="91440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2788920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3145536"/>
            <a:ext cx="7315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322783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7月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0" y="3145536"/>
            <a:ext cx="2468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08176" y="3227832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26S棉双纱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3145536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77056" y="3227832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41.6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3145536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82896" y="3227832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66.6%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52160" y="3145536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88736" y="3227832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70.3%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0" y="3145536"/>
            <a:ext cx="914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94576" y="3227832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3584448"/>
            <a:ext cx="73152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3666744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3584448"/>
            <a:ext cx="24688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08176" y="3666744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24S小圆筒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40480" y="3584448"/>
            <a:ext cx="100584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77056" y="3666744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24.3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46320" y="3584448"/>
            <a:ext cx="100584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82896" y="3666744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82.0%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52160" y="3584448"/>
            <a:ext cx="100584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88736" y="3666744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120.6%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0" y="3584448"/>
            <a:ext cx="91440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94576" y="3666744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4023360"/>
            <a:ext cx="7315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6656" y="4105656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71600" y="4023360"/>
            <a:ext cx="2468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08176" y="4105656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40D1*1罗纹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40480" y="4023360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77056" y="4105656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16.6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46320" y="4023360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882896" y="4105656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0.0%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52160" y="4023360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88736" y="4105656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4.2%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58000" y="4023360"/>
            <a:ext cx="914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94576" y="4105656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" y="4462272"/>
            <a:ext cx="73152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6656" y="4544568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7月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71600" y="4462272"/>
            <a:ext cx="24688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408176" y="454456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40D1*1罗纹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40480" y="4462272"/>
            <a:ext cx="100584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877056" y="4544568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15.1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846320" y="4462272"/>
            <a:ext cx="100584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82896" y="4544568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3.1%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52160" y="4462272"/>
            <a:ext cx="100584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888736" y="4544568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1.3%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58000" y="4462272"/>
            <a:ext cx="91440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894576" y="4544568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" y="4901183"/>
            <a:ext cx="7315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76656" y="4983479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7月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371600" y="4901183"/>
            <a:ext cx="2468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408176" y="4983479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24S小圆筒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40480" y="4901183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877056" y="4983479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12.0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846320" y="4901183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882896" y="4983479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37.5%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52160" y="4901183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888736" y="4983479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42.4%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858000" y="4901183"/>
            <a:ext cx="914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894576" y="4983479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" y="5340096"/>
            <a:ext cx="73152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76656" y="542239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6月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0" y="5340096"/>
            <a:ext cx="246888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408176" y="5422392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40D1*1罗纹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840480" y="5340096"/>
            <a:ext cx="100584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877056" y="5422392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10.2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846320" y="5340096"/>
            <a:ext cx="100584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882896" y="5422392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2.2%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852160" y="5340096"/>
            <a:ext cx="100584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888736" y="5422392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4.1%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858000" y="5340096"/>
            <a:ext cx="914400" cy="438912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894576" y="5422392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726679" y="1828800"/>
            <a:ext cx="38404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04672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3F"/>
                </a:solidFill>
                <a:latin typeface="Microsoft YaHei"/>
              </a:defRPr>
            </a:pPr>
            <a:r>
              <a:t>处理顺序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046720" y="2834640"/>
            <a:ext cx="91440" cy="9144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247888" y="2743200"/>
            <a:ext cx="2724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P0：26S棉平纹（6月+53.9万）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046720" y="3401568"/>
            <a:ext cx="91440" cy="9144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247888" y="3310128"/>
            <a:ext cx="2724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P0：26S棉双纱（6月+53.4万，7月+41.6万）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046720" y="3968496"/>
            <a:ext cx="91440" cy="91440"/>
          </a:xfrm>
          <a:prstGeom prst="roundRect">
            <a:avLst/>
          </a:prstGeom>
          <a:solidFill>
            <a:srgbClr val="E0A43A"/>
          </a:solidFill>
          <a:ln>
            <a:solidFill>
              <a:srgbClr val="E0A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247888" y="3877056"/>
            <a:ext cx="2724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P1：24S小圆筒（6月+24.3万，7月+12.0万）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046720" y="4535424"/>
            <a:ext cx="91440" cy="91440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247888" y="4443984"/>
            <a:ext cx="2724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P2：40D1*1罗纹，金额大但偏差约1%-4%，纳入常规监控。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数据来源：最新成本核算汇总表（4-7月）；金额单位：元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05｜数据质量与标准成本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数据已经能做差异分析，但标准用量和在产品盘点仍是关键控制点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异常备注数量下降不等于问题消失，必须让异常有闭环。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73152" cy="1005840"/>
          </a:xfrm>
          <a:prstGeom prst="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实际用量偏差&gt;10%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671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12 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5117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需要复核领料和盘点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78308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783080"/>
            <a:ext cx="73152" cy="1005840"/>
          </a:xfrm>
          <a:prstGeom prst="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920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实际成本低于标准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671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43 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5117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节约数据也要确认是否漏计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78308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783080"/>
            <a:ext cx="73152" cy="1005840"/>
          </a:xfrm>
          <a:prstGeom prst="rect">
            <a:avLst/>
          </a:prstGeom>
          <a:solidFill>
            <a:srgbClr val="E0A43A"/>
          </a:solidFill>
          <a:ln>
            <a:solidFill>
              <a:srgbClr val="E0A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920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实际成本高于标准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1671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31 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5117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重点看金额而非只看比例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178308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1783080"/>
            <a:ext cx="73152" cy="1005840"/>
          </a:xfrm>
          <a:prstGeom prst="rect">
            <a:avLst/>
          </a:prstGeom>
          <a:solidFill>
            <a:srgbClr val="677480"/>
          </a:solidFill>
          <a:ln>
            <a:solidFill>
              <a:srgbClr val="677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59" y="1920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7480"/>
                </a:solidFill>
                <a:latin typeface="Microsoft YaHei"/>
              </a:defRPr>
            </a:pPr>
            <a:r>
              <a:t>缺少实际成本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59" y="21671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63F"/>
                </a:solidFill>
                <a:latin typeface="Microsoft YaHei"/>
              </a:defRPr>
            </a:pPr>
            <a:r>
              <a:t>62 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59" y="255117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77480"/>
                </a:solidFill>
                <a:latin typeface="Microsoft YaHei"/>
              </a:defRPr>
            </a:pPr>
            <a:r>
              <a:t>不纳入经营结论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246120"/>
            <a:ext cx="109728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538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3F"/>
                </a:solidFill>
                <a:latin typeface="Microsoft YaHei"/>
              </a:defRPr>
            </a:pPr>
            <a:r>
              <a:t>建议建立异常闭环字段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160520"/>
            <a:ext cx="91440" cy="91440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4069080"/>
            <a:ext cx="9674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异常类型：盘点差异 / 领料漏记 / 工艺标准错误 / 真实织损 / 产品切换余料。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590288"/>
            <a:ext cx="91440" cy="9144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" y="4498848"/>
            <a:ext cx="9674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责任人：仓库、车间、技术、财务分别确认，不用“数据异常”笼统结案。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020055"/>
            <a:ext cx="91440" cy="91440"/>
          </a:xfrm>
          <a:prstGeom prst="roundRect">
            <a:avLst/>
          </a:prstGeom>
          <a:solidFill>
            <a:srgbClr val="E0A43A"/>
          </a:solidFill>
          <a:ln>
            <a:solidFill>
              <a:srgbClr val="E0A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" y="4928616"/>
            <a:ext cx="9674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8"/>
                </a:solidFill>
                <a:latin typeface="Microsoft YaHei"/>
              </a:defRPr>
            </a:pPr>
            <a:r>
              <a:t>截止时间：月结后T+2完成复核，T+5完成成本报告。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数据来源：最新成本核算汇总表（4-7月）；金额单位：元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8B8F"/>
                </a:solidFill>
                <a:latin typeface="Microsoft YaHei"/>
              </a:defRPr>
            </a:pPr>
            <a:r>
              <a:t>06｜9月行动方案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63F"/>
                </a:solidFill>
                <a:latin typeface="Microsoft YaHei"/>
              </a:defRPr>
            </a:pPr>
            <a:r>
              <a:t>把异常分析变成现场动作：先盘点、再追溯、后更新标准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7480"/>
                </a:solidFill>
                <a:latin typeface="Microsoft YaHei"/>
              </a:defRPr>
            </a:pPr>
            <a:r>
              <a:t>每个动作都对应最新 Excel 中已有的字段。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45952" cy="18288"/>
          </a:xfrm>
          <a:prstGeom prst="rect">
            <a:avLst/>
          </a:prstGeom>
          <a:solidFill>
            <a:srgbClr val="DCE1E4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48640" cy="56692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865376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步骤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19" y="1783080"/>
            <a:ext cx="1554480" cy="56692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5" y="1865376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重点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783080"/>
            <a:ext cx="6126480" cy="56692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9776" y="1865376"/>
            <a:ext cx="6053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动作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1783080"/>
            <a:ext cx="2103120" cy="566928"/>
          </a:xfrm>
          <a:prstGeom prst="rect">
            <a:avLst/>
          </a:prstGeom>
          <a:solidFill>
            <a:srgbClr val="14263F"/>
          </a:solidFill>
          <a:ln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06255" y="1865376"/>
            <a:ext cx="20299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验收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50008"/>
            <a:ext cx="548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32303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19" y="2350008"/>
            <a:ext cx="1554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5" y="2432303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复核26S/24S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350008"/>
            <a:ext cx="6126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9776" y="2432303"/>
            <a:ext cx="6053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核对期初在产品、领料单、剩余在产品、次品与织损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2350008"/>
            <a:ext cx="2103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06255" y="2432303"/>
            <a:ext cx="20299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6月异常金额全部有结论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916936"/>
            <a:ext cx="548640" cy="56692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99923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19" y="2916936"/>
            <a:ext cx="1554480" cy="56692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25295" y="2999232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固定领料链路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916936"/>
            <a:ext cx="6126480" cy="56692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2999232"/>
            <a:ext cx="6053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订单→领料→胚布入库→在产品盘点→月结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2916936"/>
            <a:ext cx="2103120" cy="56692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06255" y="2999232"/>
            <a:ext cx="20299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实际用量偏差&gt;10%必须解释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483863"/>
            <a:ext cx="548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566159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19" y="3483863"/>
            <a:ext cx="1554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25295" y="3566159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维护标准成本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3483863"/>
            <a:ext cx="6126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79776" y="3566159"/>
            <a:ext cx="6053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工艺单标准用纱、织损率、纱线单价按变更留痕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3483863"/>
            <a:ext cx="2103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06255" y="3566159"/>
            <a:ext cx="20299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标准成本月度可复核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050791"/>
            <a:ext cx="548640" cy="56692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4133087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88719" y="4050791"/>
            <a:ext cx="1554480" cy="56692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25295" y="4133087"/>
            <a:ext cx="1481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形成差异报告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4050791"/>
            <a:ext cx="6126480" cy="56692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79776" y="4133087"/>
            <a:ext cx="6053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按金额排序，区分价格/用量/盘点/工艺四类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80" y="4050791"/>
            <a:ext cx="2103120" cy="566928"/>
          </a:xfrm>
          <a:prstGeom prst="rect">
            <a:avLst/>
          </a:prstGeom>
          <a:solidFill>
            <a:srgbClr val="F2F5F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06255" y="4133087"/>
            <a:ext cx="20299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2D38"/>
                </a:solidFill>
                <a:latin typeface="Microsoft YaHei"/>
              </a:defRPr>
            </a:pPr>
            <a:r>
              <a:t>T+5提交管理层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303520"/>
            <a:ext cx="10972800" cy="502920"/>
          </a:xfrm>
          <a:prstGeom prst="roundRect">
            <a:avLst/>
          </a:prstGeom>
          <a:solidFill>
            <a:srgbClr val="F0F7F6"/>
          </a:solidFill>
          <a:ln>
            <a:solidFill>
              <a:srgbClr val="C5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468112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2D38"/>
                </a:solidFill>
                <a:latin typeface="Microsoft YaHei"/>
              </a:defRPr>
            </a:pPr>
            <a:r>
              <a:t>降本测算暂不承诺年度金额：先把6月异常的131.6万元拆清楚，再计算可兑现空间。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5653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77480"/>
                </a:solidFill>
                <a:latin typeface="Microsoft YaHei"/>
              </a:defRPr>
            </a:pPr>
            <a:r>
              <a:t>数据来源：最新成本核算汇总表（4-7月）；金额单位：元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DBD8"/>
                </a:solidFill>
                <a:latin typeface="Microsoft YaHei"/>
              </a:defRPr>
            </a:pPr>
            <a:r>
              <a:t>07｜需要管理层确认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Microsoft YaHei"/>
              </a:defRPr>
            </a:pPr>
            <a:r>
              <a:t>先把材料差异查清楚，再把降本目标定下来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194560"/>
            <a:ext cx="502920" cy="502920"/>
          </a:xfrm>
          <a:prstGeom prst="roundRect">
            <a:avLst/>
          </a:prstGeom>
          <a:solidFill>
            <a:srgbClr val="DE5B4B"/>
          </a:solidFill>
          <a:ln>
            <a:solidFill>
              <a:srgbClr val="DE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3225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128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批准专项盘点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542032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E5EB"/>
                </a:solidFill>
                <a:latin typeface="Microsoft YaHei"/>
              </a:defRPr>
            </a:pPr>
            <a:r>
              <a:t>优先复核26S棉双纱、26S棉平纹、24S小圆筒。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246120"/>
            <a:ext cx="502920" cy="502920"/>
          </a:xfrm>
          <a:prstGeom prst="roundRect">
            <a:avLst/>
          </a:prstGeom>
          <a:solidFill>
            <a:srgbClr val="E0A43A"/>
          </a:solidFill>
          <a:ln>
            <a:solidFill>
              <a:srgbClr val="E0A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37413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644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明确跨部门责任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593591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E5EB"/>
                </a:solidFill>
                <a:latin typeface="Microsoft YaHei"/>
              </a:defRPr>
            </a:pPr>
            <a:r>
              <a:t>仓库、车间、技术、财务共同关闭异常。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297679"/>
            <a:ext cx="502920" cy="502920"/>
          </a:xfrm>
          <a:prstGeom prst="roundRect">
            <a:avLst/>
          </a:prstGeom>
          <a:solidFill>
            <a:srgbClr val="138B8F"/>
          </a:solidFill>
          <a:ln>
            <a:solidFill>
              <a:srgbClr val="1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425695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31596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固定月结节奏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645151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E5EB"/>
                </a:solidFill>
                <a:latin typeface="Microsoft YaHei"/>
              </a:defRPr>
            </a:pPr>
            <a:r>
              <a:t>T+2复核，T+5提交成本差异报告。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559552"/>
            <a:ext cx="10652760" cy="566928"/>
          </a:xfrm>
          <a:prstGeom prst="roundRect">
            <a:avLst/>
          </a:prstGeom>
          <a:solidFill>
            <a:srgbClr val="1E3953"/>
          </a:solidFill>
          <a:ln>
            <a:solidFill>
              <a:srgbClr val="4A7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742432"/>
            <a:ext cx="10149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DF3F5"/>
                </a:solidFill>
                <a:latin typeface="Microsoft YaHei"/>
              </a:defRPr>
            </a:pPr>
            <a:r>
              <a:t>本版结论：4-5月整体节约，6月异常超支集中在用纱和盘点，7月仍需持续追踪。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51052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B0BC"/>
                </a:solidFill>
                <a:latin typeface="Microsoft YaHei"/>
              </a:defRPr>
            </a:pPr>
            <a:r>
              <a:t>财务部｜2026年9月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