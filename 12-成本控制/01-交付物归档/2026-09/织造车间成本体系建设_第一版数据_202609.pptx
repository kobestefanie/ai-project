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织造车间成本管理体系建设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4-8月成本核算第一版数据汇报</a:t>
            </a:r>
          </a:p>
          <a:p>
            <a:r>
              <a:t>财务部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入职时现状（2026年4月）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【没有成本核算体系】</a:t>
            </a:r>
          </a:p>
          <a:p>
            <a:pPr>
              <a:spcAft>
                <a:spcPts val="600"/>
              </a:spcAft>
              <a:defRPr sz="1400"/>
            </a:pPr>
            <a:r>
              <a:t>• 没有期初存货盘点 → 原材料领用数据不完整</a:t>
            </a:r>
          </a:p>
          <a:p>
            <a:pPr>
              <a:spcAft>
                <a:spcPts val="600"/>
              </a:spcAft>
              <a:defRPr sz="1400"/>
            </a:pPr>
            <a:r>
              <a:t>• 没有标准成本 → 无法判断成本异常</a:t>
            </a:r>
          </a:p>
          <a:p>
            <a:pPr>
              <a:spcAft>
                <a:spcPts val="600"/>
              </a:spcAft>
              <a:defRPr sz="1400"/>
            </a:pPr>
            <a:r>
              <a:t>• 生产数据散落在多个Excel表，未关联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【数据现状】</a:t>
            </a:r>
          </a:p>
          <a:p>
            <a:pPr>
              <a:spcAft>
                <a:spcPts val="600"/>
              </a:spcAft>
              <a:defRPr sz="1400"/>
            </a:pPr>
            <a:r>
              <a:t>• 生产数量：有（ERP胚布入库单）</a:t>
            </a:r>
          </a:p>
          <a:p>
            <a:pPr>
              <a:spcAft>
                <a:spcPts val="600"/>
              </a:spcAft>
              <a:defRPr sz="1400"/>
            </a:pPr>
            <a:r>
              <a:t>• 原材料领用：不完整（部分品种未按单领料）</a:t>
            </a:r>
          </a:p>
          <a:p>
            <a:pPr>
              <a:spcAft>
                <a:spcPts val="600"/>
              </a:spcAft>
              <a:defRPr sz="1400"/>
            </a:pPr>
            <a:r>
              <a:t>• 人工分摊：粗糙（按产量比例，未考虑工艺差异）</a:t>
            </a:r>
          </a:p>
          <a:p>
            <a:pPr>
              <a:spcAft>
                <a:spcPts val="600"/>
              </a:spcAft>
              <a:defRPr sz="1400"/>
            </a:pPr>
            <a:r>
              <a:t>• 制造费用：粗糙（按产量比例分摊）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【急需解决的问题】</a:t>
            </a:r>
          </a:p>
          <a:p>
            <a:pPr>
              <a:spcAft>
                <a:spcPts val="600"/>
              </a:spcAft>
              <a:defRPr sz="1400"/>
            </a:pPr>
            <a:r>
              <a:t>• 老板问"哪个品种赚钱"，答不上来</a:t>
            </a:r>
          </a:p>
          <a:p>
            <a:pPr>
              <a:spcAft>
                <a:spcPts val="600"/>
              </a:spcAft>
              <a:defRPr sz="1400"/>
            </a:pPr>
            <a:r>
              <a:t>• 原纱采购价格波动，不知道对成本影响多大</a:t>
            </a:r>
          </a:p>
          <a:p>
            <a:pPr>
              <a:spcAft>
                <a:spcPts val="600"/>
              </a:spcAft>
              <a:defRPr sz="1400"/>
            </a:pPr>
            <a:r>
              <a:t>• 人工成本不清楚，无法评估自动化改造的价值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4-8月成本数据总览（第一版）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100"/>
            </a:pPr>
            <a:r>
              <a:t>月份 | 品种数 | 总产量(KG) | 总成本(万元) | 原材料(万元) | 人工(万元) | 制造费用(万元)</a:t>
            </a:r>
          </a:p>
          <a:p>
            <a:pPr>
              <a:spcAft>
                <a:spcPts val="400"/>
              </a:spcAft>
              <a:defRPr sz="1100"/>
            </a:pPr>
            <a:r>
              <a:t>--------------------------------------------------------------------------------</a:t>
            </a:r>
          </a:p>
          <a:p>
            <a:pPr>
              <a:spcAft>
                <a:spcPts val="400"/>
              </a:spcAft>
              <a:defRPr sz="1100"/>
            </a:pPr>
            <a:r>
              <a:t>4月 | 33 |      33,148 |     1600.63 |     1491.41 |     74.52 |        34.70</a:t>
            </a:r>
          </a:p>
          <a:p>
            <a:pPr>
              <a:spcAft>
                <a:spcPts val="400"/>
              </a:spcAft>
              <a:defRPr sz="1100"/>
            </a:pPr>
            <a:r>
              <a:t>5月 | 28 |      23,222 |     1071.73 |      953.55 |     73.72 |        44.45</a:t>
            </a:r>
          </a:p>
          <a:p>
            <a:pPr>
              <a:spcAft>
                <a:spcPts val="400"/>
              </a:spcAft>
              <a:defRPr sz="1100"/>
            </a:pPr>
            <a:r>
              <a:t>6月 | 32 |      26,887 |     1587.45 |     1484.18 |     60.51 |        42.76</a:t>
            </a:r>
          </a:p>
          <a:p>
            <a:pPr>
              <a:spcAft>
                <a:spcPts val="400"/>
              </a:spcAft>
              <a:defRPr sz="1100"/>
            </a:pPr>
            <a:r>
              <a:t>7月 | 43 |      33,345 |     1748.66 |     1640.55 |     59.74 |        48.38</a:t>
            </a:r>
          </a:p>
          <a:p>
            <a:pPr>
              <a:spcAft>
                <a:spcPts val="400"/>
              </a:spcAft>
              <a:defRPr sz="1100"/>
            </a:pPr>
            <a:r>
              <a:t>8月 | 32 |      32,077 |     1126.94 |     1013.22 |     67.33 |        60.69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200" b="1">
                <a:solidFill>
                  <a:srgbClr val="CC0000"/>
                </a:solidFill>
              </a:defRPr>
            </a:pPr>
            <a:r>
              <a:t>【数据说明】</a:t>
            </a:r>
          </a:p>
          <a:p>
            <a:pPr>
              <a:spcAft>
                <a:spcPts val="400"/>
              </a:spcAft>
              <a:defRPr sz="1100"/>
            </a:pPr>
            <a:r>
              <a:t>• 4-6月：没有期初盘点，原材料成本数据不完整</a:t>
            </a:r>
          </a:p>
          <a:p>
            <a:pPr>
              <a:spcAft>
                <a:spcPts val="400"/>
              </a:spcAft>
              <a:defRPr sz="1100"/>
            </a:pPr>
            <a:r>
              <a:t>• 7月：完成期初盘点，数据相对完整</a:t>
            </a:r>
          </a:p>
          <a:p>
            <a:pPr>
              <a:spcAft>
                <a:spcPts val="400"/>
              </a:spcAft>
              <a:defRPr sz="1100"/>
            </a:pPr>
            <a:r>
              <a:t>• 8月：第一个完整核算周期（期初+期末盘点）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200" b="1">
                <a:solidFill>
                  <a:srgbClr val="CC0000"/>
                </a:solidFill>
              </a:defRPr>
            </a:pPr>
            <a:r>
              <a:t>【数据质量问题】</a:t>
            </a:r>
          </a:p>
          <a:p>
            <a:pPr>
              <a:spcAft>
                <a:spcPts val="400"/>
              </a:spcAft>
              <a:defRPr sz="1100"/>
            </a:pPr>
            <a:r>
              <a:t>• 4-8月共168个品种记录</a:t>
            </a:r>
          </a:p>
          <a:p>
            <a:pPr>
              <a:spcAft>
                <a:spcPts val="400"/>
              </a:spcAft>
              <a:defRPr sz="1100"/>
            </a:pPr>
            <a:r>
              <a:t>• 其中32个品种原材料金额为0（领料数据缺失）</a:t>
            </a:r>
          </a:p>
          <a:p>
            <a:pPr>
              <a:spcAft>
                <a:spcPts val="400"/>
              </a:spcAft>
              <a:defRPr sz="1100"/>
            </a:pPr>
            <a:r>
              <a:t>• 其中21个品种产量&lt;100KG（小批量试产，成本不稳定）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7-8月成本对比（完成盘点后）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003366"/>
                </a:solidFill>
              </a:defRPr>
            </a:pPr>
            <a:r>
              <a:t>【7月】（有效品种13个）</a:t>
            </a:r>
          </a:p>
          <a:p>
            <a:pPr>
              <a:spcAft>
                <a:spcPts val="600"/>
              </a:spcAft>
              <a:defRPr sz="1400"/>
            </a:pPr>
            <a:r>
              <a:t>总产量：33,104 KG</a:t>
            </a:r>
          </a:p>
          <a:p>
            <a:pPr>
              <a:spcAft>
                <a:spcPts val="600"/>
              </a:spcAft>
              <a:defRPr sz="1400"/>
            </a:pPr>
            <a:r>
              <a:t>总成本：1737.28万元</a:t>
            </a:r>
          </a:p>
          <a:p>
            <a:pPr>
              <a:spcAft>
                <a:spcPts val="600"/>
              </a:spcAft>
              <a:defRPr sz="1400"/>
            </a:pPr>
            <a:r>
              <a:t>  原材料：1629.97万元 (93.8%)</a:t>
            </a:r>
          </a:p>
          <a:p>
            <a:pPr>
              <a:spcAft>
                <a:spcPts val="600"/>
              </a:spcAft>
              <a:defRPr sz="1400"/>
            </a:pPr>
            <a:r>
              <a:t>  人工：59.26万元 (3.4%)</a:t>
            </a:r>
          </a:p>
          <a:p>
            <a:pPr>
              <a:spcAft>
                <a:spcPts val="600"/>
              </a:spcAft>
              <a:defRPr sz="1400"/>
            </a:pPr>
            <a:r>
              <a:t>  制造费用：48.05万元 (2.8%)</a:t>
            </a:r>
          </a:p>
          <a:p>
            <a:pPr>
              <a:spcAft>
                <a:spcPts val="600"/>
              </a:spcAft>
              <a:defRPr sz="1400"/>
            </a:pPr>
            <a:r>
              <a:t>平均单位成本：524.79元/KG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003366"/>
                </a:solidFill>
              </a:defRPr>
            </a:pPr>
            <a:r>
              <a:t>【8月】（有效品种11个）</a:t>
            </a:r>
          </a:p>
          <a:p>
            <a:pPr>
              <a:spcAft>
                <a:spcPts val="600"/>
              </a:spcAft>
              <a:defRPr sz="1400"/>
            </a:pPr>
            <a:r>
              <a:t>总产量：28,021 KG</a:t>
            </a:r>
          </a:p>
          <a:p>
            <a:pPr>
              <a:spcAft>
                <a:spcPts val="600"/>
              </a:spcAft>
              <a:defRPr sz="1400"/>
            </a:pPr>
            <a:r>
              <a:t>总成本：1109.06万元</a:t>
            </a:r>
          </a:p>
          <a:p>
            <a:pPr>
              <a:spcAft>
                <a:spcPts val="600"/>
              </a:spcAft>
              <a:defRPr sz="1400"/>
            </a:pPr>
            <a:r>
              <a:t>  原材料：997.12万元 (89.9%)</a:t>
            </a:r>
          </a:p>
          <a:p>
            <a:pPr>
              <a:spcAft>
                <a:spcPts val="600"/>
              </a:spcAft>
              <a:defRPr sz="1400"/>
            </a:pPr>
            <a:r>
              <a:t>  人工：58.87万元 (5.3%)</a:t>
            </a:r>
          </a:p>
          <a:p>
            <a:pPr>
              <a:spcAft>
                <a:spcPts val="600"/>
              </a:spcAft>
              <a:defRPr sz="1400"/>
            </a:pPr>
            <a:r>
              <a:t>  制造费用：53.07万元 (4.8%)</a:t>
            </a:r>
          </a:p>
          <a:p>
            <a:pPr>
              <a:spcAft>
                <a:spcPts val="600"/>
              </a:spcAft>
              <a:defRPr sz="1400"/>
            </a:pPr>
            <a:r>
              <a:t>平均单位成本：395.80元/KG</a:t>
            </a:r>
          </a:p>
          <a:p>
            <a:pPr>
              <a:spcAft>
                <a:spcPts val="600"/>
              </a:spcAft>
              <a:defRPr sz="14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典型品种：华棉118D（4-8月成本变化）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300" i="1"/>
            </a:pPr>
            <a:r>
              <a:t>品种特征：棉纱+低弹丝混纺，主力品种，产量稳定</a:t>
            </a:r>
          </a:p>
          <a:p>
            <a:pPr>
              <a:defRPr sz="1200" b="1"/>
            </a:pPr>
            <a:r>
              <a:t>月份 | 产量(KG) | 单位成本 | 原材料 | 人工 | 制造费用</a:t>
            </a:r>
          </a:p>
          <a:p>
            <a:pPr>
              <a:defRPr sz="1200"/>
            </a:pPr>
            <a:r>
              <a:t>------------------------------------------------------------</a:t>
            </a:r>
          </a:p>
          <a:p>
            <a:pPr>
              <a:spcAft>
                <a:spcPts val="400"/>
              </a:spcAft>
              <a:defRPr sz="1200"/>
            </a:pPr>
            <a:r>
              <a:t>4月 |    8,044 |   17.19 |  400.19 | 19.97 |   10.96</a:t>
            </a:r>
          </a:p>
          <a:p>
            <a:pPr>
              <a:spcAft>
                <a:spcPts val="400"/>
              </a:spcAft>
              <a:defRPr sz="1200"/>
            </a:pPr>
            <a:r>
              <a:t>5月 |    4,991 |   16.25 |  364.91 | 24.79 |   19.30</a:t>
            </a:r>
          </a:p>
          <a:p>
            <a:pPr>
              <a:spcAft>
                <a:spcPts val="400"/>
              </a:spcAft>
              <a:defRPr sz="1200"/>
            </a:pPr>
            <a:r>
              <a:t>6月 |    8,724 |   16.53 |  385.44 | 17.68 |   15.57</a:t>
            </a:r>
          </a:p>
          <a:p>
            <a:pPr>
              <a:spcAft>
                <a:spcPts val="400"/>
              </a:spcAft>
              <a:defRPr sz="1200"/>
            </a:pPr>
            <a:r>
              <a:t>7月 |   15,055 |   17.88 |  413.34 | 16.91 |   14.22</a:t>
            </a:r>
          </a:p>
          <a:p>
            <a:pPr>
              <a:spcAft>
                <a:spcPts val="400"/>
              </a:spcAft>
              <a:defRPr sz="1200"/>
            </a:pPr>
            <a:r>
              <a:t>8月 |   10,916 |   15.33 |  347.06 | 20.70 |   18.73</a:t>
            </a:r>
          </a:p>
          <a:p>
            <a:br/>
            <a:pPr>
              <a:spcBef>
                <a:spcPts val="1500"/>
              </a:spcBef>
              <a:defRPr sz="1300" b="1"/>
            </a:pPr>
            <a:r>
              <a:t>成本分析：</a:t>
            </a:r>
          </a:p>
          <a:p>
            <a:pPr>
              <a:defRPr sz="1300"/>
            </a:pPr>
            <a:r>
              <a:t>• 单位成本：15.33-17.88元/KG，相对稳定</a:t>
            </a:r>
          </a:p>
          <a:p>
            <a:pPr>
              <a:defRPr sz="1300"/>
            </a:pPr>
            <a:r>
              <a:t>• 原材料占比：约92%，是成本核心</a:t>
            </a:r>
          </a:p>
          <a:p>
            <a:pPr>
              <a:defRPr sz="1300"/>
            </a:pPr>
            <a:r>
              <a:t>• 人工+制造费用：约8%，相对固定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当前存在的问题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问题1：领料数据不完整（影响成本准确性）</a:t>
            </a:r>
          </a:p>
          <a:p>
            <a:pPr>
              <a:spcAft>
                <a:spcPts val="600"/>
              </a:spcAft>
              <a:defRPr sz="1400"/>
            </a:pPr>
            <a:r>
              <a:t>• 4-8月共168条品种记录</a:t>
            </a:r>
          </a:p>
          <a:p>
            <a:pPr>
              <a:spcAft>
                <a:spcPts val="600"/>
              </a:spcAft>
              <a:defRPr sz="1400"/>
            </a:pPr>
            <a:r>
              <a:t>• 其中69条原材料金额为0（占41.1%）</a:t>
            </a:r>
          </a:p>
          <a:p>
            <a:pPr>
              <a:spcAft>
                <a:spcPts val="600"/>
              </a:spcAft>
              <a:defRPr sz="1400"/>
            </a:pPr>
            <a:r>
              <a:t>• 原因：部分品种未按生产订单领料，导致无法追溯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问题2：小批量试产多（成本不稳定）</a:t>
            </a:r>
          </a:p>
          <a:p>
            <a:pPr>
              <a:spcAft>
                <a:spcPts val="600"/>
              </a:spcAft>
              <a:defRPr sz="1400"/>
            </a:pPr>
            <a:r>
              <a:t>• 105条记录产量&lt;100KG（占62.5%）</a:t>
            </a:r>
          </a:p>
          <a:p>
            <a:pPr>
              <a:spcAft>
                <a:spcPts val="600"/>
              </a:spcAft>
              <a:defRPr sz="1400"/>
            </a:pPr>
            <a:r>
              <a:t>• 小批量生产分摊的人工和制造费用高，单位成本失真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问题3：人工成本分摊粗糙</a:t>
            </a:r>
          </a:p>
          <a:p>
            <a:pPr>
              <a:spcAft>
                <a:spcPts val="600"/>
              </a:spcAft>
              <a:defRPr sz="1400"/>
            </a:pPr>
            <a:r>
              <a:t>• 按产量比例分摊，未考虑工艺复杂度差异</a:t>
            </a:r>
          </a:p>
          <a:p>
            <a:pPr>
              <a:spcAft>
                <a:spcPts val="600"/>
              </a:spcAft>
              <a:defRPr sz="1400"/>
            </a:pPr>
            <a:r>
              <a:t>• 导致复杂品种成本被低估，简单品种被高估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CC0000"/>
                </a:solidFill>
              </a:defRPr>
            </a:pPr>
            <a:r>
              <a:t>问题4：成本数据滞后</a:t>
            </a:r>
          </a:p>
          <a:p>
            <a:pPr>
              <a:spcAft>
                <a:spcPts val="600"/>
              </a:spcAft>
              <a:defRPr sz="1400"/>
            </a:pPr>
            <a:r>
              <a:t>• 月末需要3-5天手工核对、清洗数据</a:t>
            </a:r>
          </a:p>
          <a:p>
            <a:pPr>
              <a:spcAft>
                <a:spcPts val="600"/>
              </a:spcAft>
              <a:defRPr sz="1400"/>
            </a:pPr>
            <a:r>
              <a:t>• 无法实时掌握成本异常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9-11月改善计划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spcAft>
                <a:spcPts val="500"/>
              </a:spcAft>
              <a:defRPr sz="1300" b="1">
                <a:solidFill>
                  <a:srgbClr val="006633"/>
                </a:solidFill>
              </a:defRPr>
            </a:pPr>
            <a:r>
              <a:t>【9月：数据规范期】</a:t>
            </a:r>
          </a:p>
          <a:p>
            <a:pPr>
              <a:spcAft>
                <a:spcPts val="500"/>
              </a:spcAft>
              <a:defRPr sz="1300" b="1"/>
            </a:pPr>
            <a:r>
              <a:t>目标：提升数据完整率到90%以上</a:t>
            </a:r>
          </a:p>
          <a:p>
            <a:pPr>
              <a:spcAft>
                <a:spcPts val="500"/>
              </a:spcAft>
              <a:defRPr sz="1300"/>
            </a:pPr>
            <a:r>
              <a:t>• 推动车间按生产订单领料（与生产部协商流程）</a:t>
            </a:r>
          </a:p>
          <a:p>
            <a:pPr>
              <a:spcAft>
                <a:spcPts val="500"/>
              </a:spcAft>
              <a:defRPr sz="1300"/>
            </a:pPr>
            <a:r>
              <a:t>• 每日核对ERP出库单与实际生产（发现问题当天解决）</a:t>
            </a:r>
          </a:p>
          <a:p>
            <a:pPr>
              <a:spcAft>
                <a:spcPts val="500"/>
              </a:spcAft>
              <a:defRPr sz="1300"/>
            </a:pPr>
            <a:r>
              <a:t>• 建立BC级次品单独登记表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Bef>
                <a:spcPts val="1200"/>
              </a:spcBef>
              <a:spcAft>
                <a:spcPts val="500"/>
              </a:spcAft>
              <a:defRPr sz="1300" b="1">
                <a:solidFill>
                  <a:srgbClr val="006633"/>
                </a:solidFill>
              </a:defRPr>
            </a:pPr>
            <a:r>
              <a:t>【10月：精细化期】</a:t>
            </a:r>
          </a:p>
          <a:p>
            <a:pPr>
              <a:spcAft>
                <a:spcPts val="500"/>
              </a:spcAft>
              <a:defRPr sz="1300" b="1"/>
            </a:pPr>
            <a:r>
              <a:t>目标：成本分摊更准确</a:t>
            </a:r>
          </a:p>
          <a:p>
            <a:pPr>
              <a:spcAft>
                <a:spcPts val="500"/>
              </a:spcAft>
              <a:defRPr sz="1300"/>
            </a:pPr>
            <a:r>
              <a:t>• 引入工序采集器数据，精细化人工成本分摊</a:t>
            </a:r>
          </a:p>
          <a:p>
            <a:pPr>
              <a:spcAft>
                <a:spcPts val="500"/>
              </a:spcAft>
              <a:defRPr sz="1300"/>
            </a:pPr>
            <a:r>
              <a:t>• 开展品种盈利分析（单位成本 vs 销售单价）</a:t>
            </a:r>
          </a:p>
          <a:p>
            <a:pPr>
              <a:spcAft>
                <a:spcPts val="500"/>
              </a:spcAft>
              <a:defRPr sz="1300"/>
            </a:pPr>
            <a:r>
              <a:t>• 优化工艺单理论用量（减少标准与实际差异）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Bef>
                <a:spcPts val="1200"/>
              </a:spcBef>
              <a:spcAft>
                <a:spcPts val="500"/>
              </a:spcAft>
              <a:defRPr sz="1300" b="1">
                <a:solidFill>
                  <a:srgbClr val="006633"/>
                </a:solidFill>
              </a:defRPr>
            </a:pPr>
            <a:r>
              <a:t>【11月：系统化期】</a:t>
            </a:r>
          </a:p>
          <a:p>
            <a:pPr>
              <a:spcAft>
                <a:spcPts val="500"/>
              </a:spcAft>
              <a:defRPr sz="1300" b="1"/>
            </a:pPr>
            <a:r>
              <a:t>目标：实时监控+预警</a:t>
            </a:r>
          </a:p>
          <a:p>
            <a:pPr>
              <a:spcAft>
                <a:spcPts val="500"/>
              </a:spcAft>
              <a:defRPr sz="1300"/>
            </a:pPr>
            <a:r>
              <a:t>• 建立成本预警机制（变动率&gt;10%自动提醒）</a:t>
            </a:r>
          </a:p>
          <a:p>
            <a:pPr>
              <a:spcAft>
                <a:spcPts val="500"/>
              </a:spcAft>
              <a:defRPr sz="1300"/>
            </a:pPr>
            <a:r>
              <a:t>• 搭建Power BI成本看板（日报、周报）</a:t>
            </a:r>
          </a:p>
          <a:p>
            <a:pPr>
              <a:spcAft>
                <a:spcPts val="500"/>
              </a:spcAft>
              <a:defRPr sz="1300"/>
            </a:pPr>
            <a:r>
              <a:t>• 月度成本分析会制度化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Bef>
                <a:spcPts val="1200"/>
              </a:spcBef>
              <a:spcAft>
                <a:spcPts val="500"/>
              </a:spcAft>
              <a:defRPr sz="1300" b="1">
                <a:solidFill>
                  <a:srgbClr val="006633"/>
                </a:solidFill>
              </a:defRPr>
            </a:pPr>
            <a:r>
              <a:t>【预期成果】</a:t>
            </a:r>
          </a:p>
          <a:p>
            <a:pPr>
              <a:spcAft>
                <a:spcPts val="500"/>
              </a:spcAft>
              <a:defRPr sz="1300" b="1"/>
            </a:pPr>
            <a:r>
              <a:t>成本数据准确率：60% → 95%</a:t>
            </a:r>
          </a:p>
          <a:p>
            <a:pPr>
              <a:spcAft>
                <a:spcPts val="500"/>
              </a:spcAft>
              <a:defRPr sz="1300" b="1"/>
            </a:pPr>
            <a:r>
              <a:t>成本报告时效：5天 → 2天</a:t>
            </a:r>
          </a:p>
          <a:p>
            <a:pPr>
              <a:spcAft>
                <a:spcPts val="500"/>
              </a:spcAft>
              <a:defRPr sz="1300"/>
            </a:pPr>
            <a:r>
              <a:t>管理决策支持：事后分析 → 事前预警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1500"/>
              </a:spcBef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t>【成本体系从无到有】</a:t>
            </a:r>
          </a:p>
          <a:p>
            <a:pPr algn="ctr">
              <a:spcAft>
                <a:spcPts val="800"/>
              </a:spcAft>
              <a:defRPr sz="1600"/>
            </a:pPr>
            <a:r>
              <a:t>4月：没有成本核算体系</a:t>
            </a:r>
          </a:p>
          <a:p>
            <a:pPr algn="ctr">
              <a:spcAft>
                <a:spcPts val="800"/>
              </a:spcAft>
              <a:defRPr sz="1600"/>
            </a:pPr>
            <a:r>
              <a:t>8月：建立31张表的标准成本核算模型</a:t>
            </a:r>
          </a:p>
          <a:p>
            <a:pPr algn="ctr">
              <a:spcAft>
                <a:spcPts val="800"/>
              </a:spcAft>
              <a:defRPr sz="1600"/>
            </a:pPr>
          </a:p>
          <a:p>
            <a:pPr algn="ctr">
              <a:spcBef>
                <a:spcPts val="1500"/>
              </a:spcBef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t>【第一版数据，如实呈现】</a:t>
            </a:r>
          </a:p>
          <a:p>
            <a:pPr algn="ctr">
              <a:spcAft>
                <a:spcPts val="800"/>
              </a:spcAft>
              <a:defRPr sz="1600"/>
            </a:pPr>
            <a:r>
              <a:t>数据不完美，但这是真实现状</a:t>
            </a:r>
          </a:p>
          <a:p>
            <a:pPr algn="ctr">
              <a:spcAft>
                <a:spcPts val="800"/>
              </a:spcAft>
              <a:defRPr sz="1600"/>
            </a:pPr>
            <a:r>
              <a:t>找到了问题，才能有针对性改善</a:t>
            </a:r>
          </a:p>
          <a:p>
            <a:pPr algn="ctr">
              <a:spcAft>
                <a:spcPts val="800"/>
              </a:spcAft>
              <a:defRPr sz="1600"/>
            </a:pPr>
          </a:p>
          <a:p>
            <a:pPr algn="ctr">
              <a:spcBef>
                <a:spcPts val="1500"/>
              </a:spcBef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t>【下一步重点】</a:t>
            </a:r>
          </a:p>
          <a:p>
            <a:pPr algn="ctr">
              <a:spcAft>
                <a:spcPts val="800"/>
              </a:spcAft>
              <a:defRPr sz="1600"/>
            </a:pPr>
            <a:r>
              <a:t>规范领料流程 → 提升数据质量 → 精细化分摊 → 实时监控</a:t>
            </a:r>
          </a:p>
          <a:p>
            <a:pPr algn="ctr">
              <a:spcAft>
                <a:spcPts val="800"/>
              </a:spcAft>
              <a:defRPr sz="1600"/>
            </a:pPr>
          </a:p>
          <a:p>
            <a:pPr algn="ctr">
              <a:spcAft>
                <a:spcPts val="800"/>
              </a:spcAft>
              <a:defRPr sz="1600"/>
            </a:pPr>
            <a:r>
              <a:t>织造车间成本，从"一笔糊涂账"到"心中有数"</a:t>
            </a:r>
          </a:p>
          <a:p>
            <a:pPr algn="ctr">
              <a:spcAft>
                <a:spcPts val="800"/>
              </a:spcAft>
              <a:defRPr sz="1600"/>
            </a:pPr>
            <a:r>
              <a:t>这是第一步。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