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8D3D1"/>
                </a:solidFill>
                <a:latin typeface="Microsoft YaHei"/>
              </a:defRPr>
            </a:pPr>
            <a:r>
              <a:t>织造车间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成本管理体系建设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EE5EA"/>
                </a:solidFill>
                <a:latin typeface="Microsoft YaHei"/>
              </a:defRPr>
            </a:pPr>
            <a:r>
              <a:t>4-8月第一版数据复盘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127248"/>
            <a:ext cx="4754880" cy="36576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429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先把数据说清楚，再把成本管起来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115568"/>
            <a:ext cx="3154680" cy="4389120"/>
          </a:xfrm>
          <a:prstGeom prst="roundRect">
            <a:avLst/>
          </a:prstGeom>
          <a:solidFill>
            <a:srgbClr val="1E3953"/>
          </a:solidFill>
          <a:ln>
            <a:solidFill>
              <a:srgbClr val="365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本次汇报只回答三个问题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331720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0808" y="2240280"/>
            <a:ext cx="2084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问题有多大？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017520"/>
            <a:ext cx="91440" cy="9144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2926080"/>
            <a:ext cx="235915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哪些数据可以相信？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703320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3611880"/>
            <a:ext cx="235915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9-11月先做什么？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199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1C1CA"/>
                </a:solidFill>
                <a:latin typeface="Microsoft YaHei"/>
              </a:defRPr>
            </a:pPr>
            <a:r>
              <a:t>财务部｜2026年9月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01｜先看结论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第一版数据已经足够说明：先治理数据，再谈精细化成本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4-8月共168条记录，最重要的管理动作是把领料和盘点变成可追溯流程。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19072"/>
            <a:ext cx="73152" cy="1005840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样本记录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168 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4-8月全部记录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719072"/>
            <a:ext cx="73152" cy="100584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原材料缺失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69 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占 41.1%，不能直接做成本判断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3328" y="1719072"/>
            <a:ext cx="73152" cy="1005840"/>
          </a:xfrm>
          <a:prstGeom prst="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小批量记录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105 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产量 &lt;100KG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1719072"/>
            <a:ext cx="73152" cy="1005840"/>
          </a:xfrm>
          <a:prstGeom prst="rect">
            <a:avLst/>
          </a:prstGeom>
          <a:solidFill>
            <a:srgbClr val="45915F"/>
          </a:solidFill>
          <a:ln>
            <a:solidFill>
              <a:srgbClr val="45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7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可比样本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7-8月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剔除缺料与小批量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63240"/>
            <a:ext cx="1104595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364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38B8F"/>
                </a:solidFill>
                <a:latin typeface="Microsoft YaHei"/>
              </a:defRPr>
            </a:pPr>
            <a:r>
              <a:t>管理判断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703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4263F"/>
                </a:solidFill>
                <a:latin typeface="Microsoft YaHei"/>
              </a:defRPr>
            </a:pPr>
            <a:r>
              <a:t>当前不能用全量数据回答“哪个品种最赚钱”。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" y="4407407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" y="4315968"/>
            <a:ext cx="9674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可以确认：原材料是成本控制的第一抓手，必须绑定订单和盘点。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" y="4809744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" y="4718304"/>
            <a:ext cx="9674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可以推进：9月先把数据完整率和领料流程做实，10月再做工序级分摊。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02｜数据边界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先把“能不能比”讲清楚，避免用缺失数据做结论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4572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3F"/>
                </a:solidFill>
                <a:latin typeface="Microsoft YaHei"/>
              </a:defRPr>
            </a:pPr>
            <a:r>
              <a:t>168条记录如何分层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87752"/>
            <a:ext cx="3931920" cy="603504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6148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全部记录 168 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3429000"/>
            <a:ext cx="3255264" cy="603504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3602736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原材料金额为0：69条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7632" y="4270248"/>
            <a:ext cx="2596896" cy="603504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444398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产量 &lt;100KG：105条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111496"/>
            <a:ext cx="2011680" cy="475488"/>
          </a:xfrm>
          <a:prstGeom prst="roundRect">
            <a:avLst/>
          </a:prstGeom>
          <a:solidFill>
            <a:srgbClr val="45915F"/>
          </a:solidFill>
          <a:ln>
            <a:solidFill>
              <a:srgbClr val="45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523951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可比样本：7-8月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1755648"/>
            <a:ext cx="6108192" cy="4160520"/>
          </a:xfrm>
          <a:prstGeom prst="roundRect">
            <a:avLst/>
          </a:prstGeom>
          <a:solidFill>
            <a:srgbClr val="F0F7F6"/>
          </a:solidFill>
          <a:ln>
            <a:solidFill>
              <a:srgbClr val="C5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3F"/>
                </a:solidFill>
                <a:latin typeface="Microsoft YaHei"/>
              </a:defRPr>
            </a:pPr>
            <a:r>
              <a:t>这意味着什么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33872" y="2788920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69748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4-6月没有期初盘点，原材料数据不完整。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33872" y="3337560"/>
            <a:ext cx="91440" cy="9144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24612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全量数据适合找管理问题，不适合直接做品种盈利排名。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33872" y="3886200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79476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7-8月剔除缺料与小批量后，才作为相对可比的趋势参考。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3872" y="4434840"/>
            <a:ext cx="91440" cy="91440"/>
          </a:xfrm>
          <a:prstGeom prst="roundRect">
            <a:avLst/>
          </a:prstGeom>
          <a:solidFill>
            <a:srgbClr val="45915F"/>
          </a:solidFill>
          <a:ln>
            <a:solidFill>
              <a:srgbClr val="45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34340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后续每月固定输出：全部样本、可比样本、剔除原因三张清单。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口径：缺料=原材料金额为0；小批量=实收数量&lt;100KG；两类记录可重叠。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03｜成本结构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原材料占比远高于参考区间，成本改善要从“料”开始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行业参考仅作方向性基准，当前数据仍受盘点和领料完整性影响。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492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63F"/>
                </a:solidFill>
                <a:latin typeface="Microsoft YaHei"/>
              </a:defRPr>
            </a:pPr>
            <a:r>
              <a:t>4-8月原材料占比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7480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560320"/>
            <a:ext cx="4114800" cy="256032"/>
          </a:xfrm>
          <a:prstGeom prst="rect">
            <a:avLst/>
          </a:prstGeom>
          <a:solidFill>
            <a:srgbClr val="E9EEF0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00200" y="2560320"/>
            <a:ext cx="3834031" cy="256032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25511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5B4B"/>
                </a:solidFill>
                <a:latin typeface="Microsoft YaHei"/>
              </a:defRPr>
            </a:pPr>
            <a:r>
              <a:t>93.2%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1272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7480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127248"/>
            <a:ext cx="4114800" cy="256032"/>
          </a:xfrm>
          <a:prstGeom prst="rect">
            <a:avLst/>
          </a:prstGeom>
          <a:solidFill>
            <a:srgbClr val="E9EEF0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0200" y="3127248"/>
            <a:ext cx="3661071" cy="256032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311810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5B4B"/>
                </a:solidFill>
                <a:latin typeface="Microsoft YaHei"/>
              </a:defRPr>
            </a:pPr>
            <a:r>
              <a:t>89.0%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69417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7480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3694176"/>
            <a:ext cx="4114800" cy="256032"/>
          </a:xfrm>
          <a:prstGeom prst="rect">
            <a:avLst/>
          </a:prstGeom>
          <a:solidFill>
            <a:srgbClr val="E9EEF0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00200" y="3694176"/>
            <a:ext cx="3847117" cy="256032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36850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5B4B"/>
                </a:solidFill>
                <a:latin typeface="Microsoft YaHei"/>
              </a:defRPr>
            </a:pPr>
            <a:r>
              <a:t>93.5%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6110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7480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4261104"/>
            <a:ext cx="4114800" cy="256032"/>
          </a:xfrm>
          <a:prstGeom prst="rect">
            <a:avLst/>
          </a:prstGeom>
          <a:solidFill>
            <a:srgbClr val="E9EEF0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00200" y="4261104"/>
            <a:ext cx="3860387" cy="256032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42519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5B4B"/>
                </a:solidFill>
                <a:latin typeface="Microsoft YaHei"/>
              </a:defRPr>
            </a:pPr>
            <a:r>
              <a:t>93.8%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828031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7480"/>
                </a:solidFill>
                <a:latin typeface="Microsoft YaHei"/>
              </a:defRPr>
            </a:pPr>
            <a:r>
              <a:t>8月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4828031"/>
            <a:ext cx="4114800" cy="256032"/>
          </a:xfrm>
          <a:prstGeom prst="rect">
            <a:avLst/>
          </a:prstGeom>
          <a:solidFill>
            <a:srgbClr val="E9EEF0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4828031"/>
            <a:ext cx="3699545" cy="256032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48188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5B4B"/>
                </a:solidFill>
                <a:latin typeface="Microsoft YaHei"/>
              </a:defRPr>
            </a:pPr>
            <a:r>
              <a:t>89.9%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9792" y="1783080"/>
            <a:ext cx="4133087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2075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3F"/>
                </a:solidFill>
                <a:latin typeface="Microsoft YaHei"/>
              </a:defRPr>
            </a:pPr>
            <a:r>
              <a:t>读图结论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606040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DE5B4B"/>
                </a:solidFill>
                <a:latin typeface="Microsoft YaHei"/>
              </a:defRPr>
            </a:pPr>
            <a:r>
              <a:t>89%-94%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975" y="3182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原材料成本占比（4-8月）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0688" y="3840479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1856" y="3749039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原纱采购价、用量和织损是第一优先级。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90688" y="4462272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856" y="4370832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人工和制造费用占比低，先不要用它们解释全部波动。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04｜可比样本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7-8月有效样本显示：单位成本下降，但不能简单归因于管理改善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有效样本：原材料金额&gt;0且产量≥100KG，用于趋势观察。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754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263F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13 个有效品种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07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1737.3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7480"/>
                </a:solidFill>
                <a:latin typeface="Microsoft YaHei"/>
              </a:defRPr>
            </a:pPr>
            <a:r>
              <a:t>33.1 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8B8F"/>
                </a:solidFill>
                <a:latin typeface="Microsoft YaHei"/>
              </a:defRPr>
            </a:pPr>
            <a:r>
              <a:t>524.79 元/KG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8912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原材料占比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75488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人工+制造 6.2%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4754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263F"/>
                </a:solidFill>
                <a:latin typeface="Microsoft YaHei"/>
              </a:defRPr>
            </a:pPr>
            <a:r>
              <a:t>8月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11 个有效品种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907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1109.1 万元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4015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7480"/>
                </a:solidFill>
                <a:latin typeface="Microsoft YaHei"/>
              </a:defRPr>
            </a:pPr>
            <a:r>
              <a:t>28.0 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8B8F"/>
                </a:solidFill>
                <a:latin typeface="Microsoft YaHei"/>
              </a:defRPr>
            </a:pPr>
            <a:r>
              <a:t>395.80 元/KG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38912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原材料占比 89.9%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5488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人工+制造 10.1%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15000"/>
            <a:ext cx="10241280" cy="438912"/>
          </a:xfrm>
          <a:prstGeom prst="roundRect">
            <a:avLst/>
          </a:prstGeom>
          <a:solidFill>
            <a:srgbClr val="FFF6E5"/>
          </a:solidFill>
          <a:ln>
            <a:solidFill>
              <a:srgbClr val="F2D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843016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2D38"/>
                </a:solidFill>
                <a:latin typeface="Microsoft YaHei"/>
              </a:defRPr>
            </a:pPr>
            <a:r>
              <a:t>提示：7月到8月成本下降同时伴随产量和品种结构变化，下一步必须分解价格、用量、产品结构三项影响。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05｜行动计划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9-11月按月只做一件关键事：先完整，再精细，最后预警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3154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3154680" cy="9144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5B4B"/>
                </a:solidFill>
                <a:latin typeface="Microsoft YaHei"/>
              </a:defRPr>
            </a:pPr>
            <a:r>
              <a:t>9月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63F"/>
                </a:solidFill>
                <a:latin typeface="Microsoft YaHei"/>
              </a:defRPr>
            </a:pPr>
            <a:r>
              <a:t>把数据补齐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8"/>
                </a:solidFill>
                <a:latin typeface="Microsoft YaHei"/>
              </a:defRPr>
            </a:pPr>
            <a:r>
              <a:t>按订单领料；每日核对ERP出库；次品单独登记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920240"/>
            <a:ext cx="3154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920240"/>
            <a:ext cx="3154680" cy="91440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38B8F"/>
                </a:solidFill>
                <a:latin typeface="Microsoft YaHei"/>
              </a:defRPr>
            </a:pPr>
            <a:r>
              <a:t>10月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63F"/>
                </a:solidFill>
                <a:latin typeface="Microsoft YaHei"/>
              </a:defRPr>
            </a:pPr>
            <a:r>
              <a:t>把成本算准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8"/>
                </a:solidFill>
                <a:latin typeface="Microsoft YaHei"/>
              </a:defRPr>
            </a:pPr>
            <a:r>
              <a:t>工序采集器；按品种分摊人工；标准用量复盘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20240"/>
            <a:ext cx="3154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3154680" cy="91440"/>
          </a:xfrm>
          <a:prstGeom prst="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A43A"/>
                </a:solidFill>
                <a:latin typeface="Microsoft YaHei"/>
              </a:defRPr>
            </a:pPr>
            <a:r>
              <a:t>11月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63F"/>
                </a:solidFill>
                <a:latin typeface="Microsoft YaHei"/>
              </a:defRPr>
            </a:pPr>
            <a:r>
              <a:t>把异常提前发现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8"/>
                </a:solidFill>
                <a:latin typeface="Microsoft YaHei"/>
              </a:defRPr>
            </a:pPr>
            <a:r>
              <a:t>变动率&gt;10%预警；月度成本会；看板试运行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09160"/>
            <a:ext cx="3154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709160"/>
            <a:ext cx="73152" cy="100584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4632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9月验收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932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完整率 ≥90%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77256"/>
            <a:ext cx="2880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按订单领料覆盖主力品种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709160"/>
            <a:ext cx="3154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4709160"/>
            <a:ext cx="73152" cy="1005840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84632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10月验收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0932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报告 T+2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477256"/>
            <a:ext cx="2880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成本分摊规则可复核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709160"/>
            <a:ext cx="3154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709160"/>
            <a:ext cx="73152" cy="1005840"/>
          </a:xfrm>
          <a:prstGeom prst="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84632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11月验收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932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异常可预警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477256"/>
            <a:ext cx="2880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变动率&gt;10%自动入清单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DBD8"/>
                </a:solidFill>
                <a:latin typeface="Microsoft YaHei"/>
              </a:defRPr>
            </a:pPr>
            <a:r>
              <a:t>06｜需要管理层确认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把成本管理从“事后解释”推进到“现场可执行”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20240"/>
            <a:ext cx="10789920" cy="27432"/>
          </a:xfrm>
          <a:prstGeom prst="rect">
            <a:avLst/>
          </a:prstGeom>
          <a:solidFill>
            <a:srgbClr val="4A7089"/>
          </a:solidFill>
          <a:ln>
            <a:solidFill>
              <a:srgbClr val="4A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502920" cy="50292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2374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14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按订单领料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74320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确认生产部配合，9月先覆盖主力品种。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447288"/>
            <a:ext cx="502920" cy="50292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753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65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次品独立登记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9476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确认BC级次品单独入库、单独台账。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498848"/>
            <a:ext cx="502920" cy="50292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26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5171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月度成本会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8463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确认每月关账后固定召开，按异常-原因-动作闭环。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15000"/>
            <a:ext cx="10652760" cy="530352"/>
          </a:xfrm>
          <a:prstGeom prst="roundRect">
            <a:avLst/>
          </a:prstGeom>
          <a:solidFill>
            <a:srgbClr val="1E3953"/>
          </a:solidFill>
          <a:ln>
            <a:solidFill>
              <a:srgbClr val="4A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879592"/>
            <a:ext cx="10149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F3F5"/>
                </a:solidFill>
                <a:latin typeface="Microsoft YaHei"/>
              </a:defRPr>
            </a:pPr>
            <a:r>
              <a:t>本版数据的价值：把问题边界说清楚，把下一步动作定下来。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51052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B0BC"/>
                </a:solidFill>
                <a:latin typeface="Microsoft YaHei"/>
              </a:defRPr>
            </a:pPr>
            <a:r>
              <a:t>财务部｜2026年9月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