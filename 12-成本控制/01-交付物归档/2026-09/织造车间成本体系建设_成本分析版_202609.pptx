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8D3D1"/>
                </a:solidFill>
                <a:latin typeface="Microsoft YaHei"/>
              </a:defRPr>
            </a:pPr>
            <a:r>
              <a:t>织造车间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813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成本管理体系建设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31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EE5EA"/>
                </a:solidFill>
                <a:latin typeface="Microsoft YaHei"/>
              </a:defRPr>
            </a:pPr>
            <a:r>
              <a:t>4-8月成本数据深度分析版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3127248"/>
            <a:ext cx="4754880" cy="36576"/>
          </a:xfrm>
          <a:prstGeom prst="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429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从“成本很高”走到“知道先管哪一项”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61996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1C1CA"/>
                </a:solidFill>
                <a:latin typeface="Microsoft YaHei"/>
              </a:defRPr>
            </a:pPr>
            <a:r>
              <a:t>财务部｜2026年9月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01｜管理层结论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成本问题不是平均分布，而是集中在少数主力品种和原材料驱动上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本页只保留可直接支持管理动作的结论。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19072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19072"/>
            <a:ext cx="73152" cy="1005840"/>
          </a:xfrm>
          <a:prstGeom prst="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562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累计实际成本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7,135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871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4-8月全部记录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719072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719072"/>
            <a:ext cx="73152" cy="1005840"/>
          </a:xfrm>
          <a:prstGeom prst="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8562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前2品种成本占比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56.2%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4871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华棉118D + 40D1*1罗纹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1719072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53328" y="1719072"/>
            <a:ext cx="73152" cy="1005840"/>
          </a:xfrm>
          <a:prstGeom prst="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8562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原材料占比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89%-94%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4871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每月实际成本构成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528" y="1719072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96528" y="1719072"/>
            <a:ext cx="73152" cy="1005840"/>
          </a:xfrm>
          <a:prstGeom prst="rect">
            <a:avLst/>
          </a:prstGeom>
          <a:solidFill>
            <a:srgbClr val="45915F"/>
          </a:solidFill>
          <a:ln>
            <a:solidFill>
              <a:srgbClr val="45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7" y="18562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6月单位成本峰值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7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590.42 元/KG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7" y="24871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较5月上升28.0%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063240"/>
            <a:ext cx="11045952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33649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38B8F"/>
                </a:solidFill>
                <a:latin typeface="Microsoft YaHei"/>
              </a:defRPr>
            </a:pPr>
            <a:r>
              <a:t>三条经营判断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" y="3840479"/>
            <a:ext cx="91440" cy="9144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" y="3749039"/>
            <a:ext cx="9857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第一抓手：先盯原材料单价、用量和织损，人工与制造费用不是当前主要矛盾。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" y="4315968"/>
            <a:ext cx="91440" cy="9144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" y="4224528"/>
            <a:ext cx="9857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第一批对象：华棉118D和40D1*1罗纹合计占成本56.2%，优先建立两类品种的材料用量基准。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" y="4791455"/>
            <a:ext cx="91440" cy="91440"/>
          </a:xfrm>
          <a:prstGeom prst="round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" y="4700016"/>
            <a:ext cx="9857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第一项补数：现有数据不能区分材料价格变化和材料用量变化，必须补充纱线单价、标准用量和领料量。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数据来源：4-8月成本核算汇总表；金额单位：元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02｜月度成本变化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6月成本峰值由材料单位成本跳升驱动，8月下降也主要来自材料单位成本回落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总成本变化同时受产量影响，因此用单位成本和成本/公斤拆解。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731520" cy="38404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月份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685800" cy="38404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90195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品种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1828800"/>
            <a:ext cx="914400" cy="38404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190195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产量(吨)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828800"/>
            <a:ext cx="1051560" cy="38404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901952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成本(万元)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1828800"/>
            <a:ext cx="1051560" cy="38404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1901952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单位成本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1828800"/>
            <a:ext cx="1143000" cy="38404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90195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材料/公斤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828800"/>
            <a:ext cx="1051560" cy="38404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901952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人工/公斤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1828800"/>
            <a:ext cx="1234440" cy="38404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1901952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制造/公斤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212848"/>
            <a:ext cx="7315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2860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2212848"/>
            <a:ext cx="685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22860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7400" y="2212848"/>
            <a:ext cx="914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22860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33.1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0" y="2212848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2286000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1600.6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2212848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80" y="2286000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482.87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2212848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22860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449.93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212848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2286000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22.48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2212848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2286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10.47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2596896"/>
            <a:ext cx="73152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267004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5月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2596896"/>
            <a:ext cx="6858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17320" y="267004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57400" y="2596896"/>
            <a:ext cx="9144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03120" y="267004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23.2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71800" y="2596896"/>
            <a:ext cx="105156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17520" y="2670048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1071.7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360" y="2596896"/>
            <a:ext cx="105156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9080" y="2670048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461.52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74920" y="2596896"/>
            <a:ext cx="11430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0" y="267004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410.63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2596896"/>
            <a:ext cx="105156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2670048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31.75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69480" y="2596896"/>
            <a:ext cx="123444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267004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19.14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2980944"/>
            <a:ext cx="7315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305409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2980944"/>
            <a:ext cx="685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17320" y="30540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2980944"/>
            <a:ext cx="914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0" y="305409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26.9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71800" y="2980944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17520" y="3054096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1587.5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3360" y="2980944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69080" y="3054096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590.42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74920" y="2980944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20640" y="3054096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552.01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2980944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63640" y="3054096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22.50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69480" y="2980944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0" y="305409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15.90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" y="3364991"/>
            <a:ext cx="73152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" y="343814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7月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371600" y="3364991"/>
            <a:ext cx="6858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17320" y="343814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57400" y="3364991"/>
            <a:ext cx="9144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0" y="343814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33.3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971800" y="3364991"/>
            <a:ext cx="105156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17520" y="3438144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1748.7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023360" y="3364991"/>
            <a:ext cx="105156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069080" y="3438144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524.42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74920" y="3364991"/>
            <a:ext cx="11430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20640" y="3438144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491.99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17920" y="3364991"/>
            <a:ext cx="105156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63640" y="3438144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17.92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69480" y="3364991"/>
            <a:ext cx="123444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15200" y="343814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14.51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" y="3749039"/>
            <a:ext cx="7315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5800" y="3822191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8月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71600" y="3749039"/>
            <a:ext cx="685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417320" y="3822191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57400" y="3749039"/>
            <a:ext cx="914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0" y="3822191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32.1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71800" y="3749039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017520" y="3822191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1126.9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023360" y="3749039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69080" y="3822191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351.32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74920" y="3749039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20640" y="3822191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315.87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17920" y="3749039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63640" y="3822191"/>
            <a:ext cx="960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20.99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269480" y="3749039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15200" y="3822191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18.92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0080" y="4572000"/>
            <a:ext cx="10972800" cy="1417320"/>
          </a:xfrm>
          <a:prstGeom prst="roundRect">
            <a:avLst/>
          </a:prstGeom>
          <a:solidFill>
            <a:srgbClr val="F0F7F6"/>
          </a:solidFill>
          <a:ln>
            <a:solidFill>
              <a:srgbClr val="C5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4400" y="4800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38B8F"/>
                </a:solidFill>
                <a:latin typeface="Microsoft YaHei"/>
              </a:defRPr>
            </a:pPr>
            <a:r>
              <a:t>变化拆解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513892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8"/>
                </a:solidFill>
                <a:latin typeface="Microsoft YaHei"/>
              </a:defRPr>
            </a:pPr>
            <a:r>
              <a:t>5→6月：单位成本 +28.0%，材料/公斤 +34.4%，是主要驱动；6→7月：材料/公斤 -10.9%，但产量上升，单位成本仍高；7→8月：单位成本 -33.0%，材料/公斤 -35.8%，需结合采购单价和产品结构验证原因。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数据来源：4-8月成本核算汇总表；金额单位：元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03｜成本集中度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成本高度集中：抓住前5个品种，就抓住约75%的成本池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这决定了改善顺序应先做重点品种，而不是平均分配精力。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548640" cy="38404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排名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783080"/>
            <a:ext cx="2834640" cy="38404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856231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品种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783080"/>
            <a:ext cx="1280160" cy="38404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856231"/>
            <a:ext cx="11887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成本(万元)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783080"/>
            <a:ext cx="914400" cy="38404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1856231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占比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914400" cy="38404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56231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累计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783080"/>
            <a:ext cx="1188720" cy="38404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856231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单位成本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167128"/>
            <a:ext cx="548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2402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2167128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22402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华棉118D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2167128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2240280"/>
            <a:ext cx="11887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2007.2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2167128"/>
            <a:ext cx="914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24028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28.1%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167128"/>
            <a:ext cx="914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24028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28.1%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2167128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22402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420.53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551176"/>
            <a:ext cx="54864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26243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2551176"/>
            <a:ext cx="283464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26243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40D1*1罗纹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2551176"/>
            <a:ext cx="128016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0520" y="2624328"/>
            <a:ext cx="11887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2004.0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0" y="2551176"/>
            <a:ext cx="9144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40680" y="26243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28.1%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2551176"/>
            <a:ext cx="9144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6243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56.2%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2551176"/>
            <a:ext cx="118872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26243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642.40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2935224"/>
            <a:ext cx="548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00837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0160" y="2935224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25880" y="300837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华棉150D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2935224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60520" y="3008376"/>
            <a:ext cx="11887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603.0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94960" y="2935224"/>
            <a:ext cx="914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40680" y="3008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8.5%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2935224"/>
            <a:ext cx="914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3008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64.7%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2935224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9480" y="300837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399.89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3319272"/>
            <a:ext cx="54864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33924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80160" y="3319272"/>
            <a:ext cx="283464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25880" y="339242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30D1*1罗纹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3319272"/>
            <a:ext cx="128016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60520" y="3392424"/>
            <a:ext cx="11887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426.0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94960" y="3319272"/>
            <a:ext cx="9144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40680" y="339242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6.0%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3319272"/>
            <a:ext cx="9144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39242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70.6%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23760" y="3319272"/>
            <a:ext cx="118872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69480" y="339242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643.18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3703320"/>
            <a:ext cx="548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7240" y="37764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80160" y="3703320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25880" y="37764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26S棉小圆筒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0" y="3703320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60520" y="3776472"/>
            <a:ext cx="11887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301.5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94960" y="3703320"/>
            <a:ext cx="914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40680" y="37764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4.2%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60" y="3703320"/>
            <a:ext cx="914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55080" y="37764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74.9%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23760" y="3703320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69480" y="377647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440.82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" y="4087368"/>
            <a:ext cx="54864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7240" y="4160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280160" y="4087368"/>
            <a:ext cx="283464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325880" y="4160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26S棉双纱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0" y="4087368"/>
            <a:ext cx="128016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60520" y="4160520"/>
            <a:ext cx="11887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281.8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94960" y="4087368"/>
            <a:ext cx="9144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40680" y="416052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3.9%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09360" y="4087368"/>
            <a:ext cx="9144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55080" y="416052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78.8%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223760" y="4087368"/>
            <a:ext cx="118872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69480" y="41605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727.62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1520" y="4471416"/>
            <a:ext cx="548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77240" y="45445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280160" y="4471416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25880" y="454456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21S棉小圆筒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114800" y="4471416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160520" y="4544568"/>
            <a:ext cx="11887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268.8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94960" y="4471416"/>
            <a:ext cx="914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40680" y="45445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3.8%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09360" y="4471416"/>
            <a:ext cx="914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55080" y="45445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82.6%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223760" y="4471416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269480" y="45445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438.73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31520" y="4855464"/>
            <a:ext cx="54864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77240" y="49286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280160" y="4855464"/>
            <a:ext cx="283464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325880" y="492861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32S棉双纱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14800" y="4855464"/>
            <a:ext cx="128016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160520" y="4928616"/>
            <a:ext cx="11887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182.6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394960" y="4855464"/>
            <a:ext cx="9144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440680" y="492861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2.6%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09360" y="4855464"/>
            <a:ext cx="9144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80" y="492861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85.1%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23760" y="4855464"/>
            <a:ext cx="118872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269480" y="492861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442.98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31520" y="5239512"/>
            <a:ext cx="548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77240" y="5312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280160" y="5239512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325880" y="5312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20S棉小圆筒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114800" y="5239512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160520" y="5312664"/>
            <a:ext cx="11887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175.8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394960" y="5239512"/>
            <a:ext cx="914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40680" y="53126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2.5%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309360" y="5239512"/>
            <a:ext cx="914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355080" y="53126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87.6%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223760" y="5239512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269480" y="531266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343.23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31520" y="5623560"/>
            <a:ext cx="54864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77240" y="569671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280160" y="5623560"/>
            <a:ext cx="283464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325880" y="56967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26S棉平纹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114800" y="5623560"/>
            <a:ext cx="128016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160520" y="5696712"/>
            <a:ext cx="11887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130.9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394960" y="5623560"/>
            <a:ext cx="9144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440680" y="56967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1.8%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309360" y="5623560"/>
            <a:ext cx="91440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355080" y="56967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89.4%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223760" y="5623560"/>
            <a:ext cx="1188720" cy="38404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69480" y="56967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1189.10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772400" y="1828800"/>
            <a:ext cx="36576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092440" y="21214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3F"/>
                </a:solidFill>
                <a:latin typeface="Microsoft YaHei"/>
              </a:defRPr>
            </a:pPr>
            <a:r>
              <a:t>管理含义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092440" y="26060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DE5B4B"/>
                </a:solidFill>
                <a:latin typeface="Microsoft YaHei"/>
              </a:defRPr>
            </a:pPr>
            <a:r>
              <a:t>56.2%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119872" y="3154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前2个品种成本占比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092440" y="3749039"/>
            <a:ext cx="91440" cy="9144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293608" y="3657600"/>
            <a:ext cx="2724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华棉118D：成本2,007万元，单位成本420.53元/KG。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092440" y="4325112"/>
            <a:ext cx="91440" cy="9144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293608" y="4233672"/>
            <a:ext cx="2724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40D1*1罗纹：成本2,004万元，单位成本642.40元/KG。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092440" y="4901183"/>
            <a:ext cx="91440" cy="91440"/>
          </a:xfrm>
          <a:prstGeom prst="round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293608" y="4809744"/>
            <a:ext cx="2724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先建立两品种的材料价格、标准用量、实际领料三张对照表。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数据来源：4-8月成本核算汇总表；金额单位：元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04｜重点品种诊断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高成本品种不等于高损耗品种：先区分“结构贵”与“管理异常”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当前数据支持优先级判断，暂不支持直接判定责任归因。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2468880" cy="438912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56231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品种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783080"/>
            <a:ext cx="914400" cy="438912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856231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产量(吨)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783080"/>
            <a:ext cx="1097280" cy="438912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856231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单位成本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783080"/>
            <a:ext cx="1097280" cy="438912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856231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材料占比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1234440" cy="438912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856231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材料/公斤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1783080"/>
            <a:ext cx="1097280" cy="438912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1856231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成本(万元)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21991"/>
            <a:ext cx="2468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95144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华棉118D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2221991"/>
            <a:ext cx="914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229514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47.7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221991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2295144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420.53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2221991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2295144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91.7%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221991"/>
            <a:ext cx="1234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29514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385.80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2221991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2295144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2007.2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660904"/>
            <a:ext cx="24688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73405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40D1*1罗纹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2660904"/>
            <a:ext cx="91440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54680" y="273405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31.2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2660904"/>
            <a:ext cx="10972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9080" y="2734056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642.40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2660904"/>
            <a:ext cx="10972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60" y="2734056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94.2%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660904"/>
            <a:ext cx="12344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273405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605.16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2660904"/>
            <a:ext cx="10972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0" y="2734056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2004.0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3099815"/>
            <a:ext cx="2468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317296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华棉150D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0" y="3099815"/>
            <a:ext cx="914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54680" y="31729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15.1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360" y="3099815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9080" y="3172968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399.89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0640" y="3099815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66360" y="3172968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90.2%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099815"/>
            <a:ext cx="1234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317296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360.59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2360" y="3099815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0" y="3172968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603.0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3538728"/>
            <a:ext cx="24688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36118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30D1*1罗纹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8960" y="3538728"/>
            <a:ext cx="91440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54680" y="361188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6.6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23360" y="3538728"/>
            <a:ext cx="10972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69080" y="3611880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643.18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3538728"/>
            <a:ext cx="10972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66360" y="3611880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94.8%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3538728"/>
            <a:ext cx="12344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3640" y="361188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609.87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52360" y="3538728"/>
            <a:ext cx="10972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0" y="3611880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426.0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3977639"/>
            <a:ext cx="2468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" y="4050791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26S棉小圆筒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08960" y="3977639"/>
            <a:ext cx="914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54680" y="4050791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6.8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23360" y="3977639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69080" y="4050791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440.82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20640" y="3977639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66360" y="4050791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90.4%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17920" y="3977639"/>
            <a:ext cx="1234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63640" y="4050791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398.58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52360" y="3977639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98080" y="4050791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301.5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" y="4416552"/>
            <a:ext cx="24688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" y="4489704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26S棉双纱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108960" y="4416552"/>
            <a:ext cx="91440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154680" y="448970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3.9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23360" y="4416552"/>
            <a:ext cx="10972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69080" y="4489704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727.62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20640" y="4416552"/>
            <a:ext cx="10972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66360" y="4489704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95.2%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17920" y="4416552"/>
            <a:ext cx="12344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63640" y="448970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692.89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452360" y="4416552"/>
            <a:ext cx="10972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498080" y="4489704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281.8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" y="4855464"/>
            <a:ext cx="2468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5800" y="492861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21S棉小圆筒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08960" y="4855464"/>
            <a:ext cx="914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154680" y="492861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6.1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023360" y="4855464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69080" y="4928616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438.73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20640" y="4855464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66360" y="4928616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84.8%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17920" y="4855464"/>
            <a:ext cx="1234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63640" y="492861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371.92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452360" y="4855464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498080" y="4928616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268.8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" y="5294376"/>
            <a:ext cx="24688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5800" y="536752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32S棉双纱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108960" y="5294376"/>
            <a:ext cx="91440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154680" y="5367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4.1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023360" y="5294376"/>
            <a:ext cx="10972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069080" y="5367528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442.98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120640" y="5294376"/>
            <a:ext cx="10972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166360" y="5367528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91.8%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17920" y="5294376"/>
            <a:ext cx="12344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263640" y="536752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406.74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452360" y="5294376"/>
            <a:ext cx="10972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498080" y="5367528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182.6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40080" y="5486400"/>
            <a:ext cx="10972800" cy="566928"/>
          </a:xfrm>
          <a:prstGeom prst="roundRect">
            <a:avLst/>
          </a:prstGeom>
          <a:solidFill>
            <a:srgbClr val="FFF6E5"/>
          </a:solidFill>
          <a:ln>
            <a:solidFill>
              <a:srgbClr val="F2D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68680" y="5660136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32D38"/>
                </a:solidFill>
                <a:latin typeface="Microsoft YaHei"/>
              </a:defRPr>
            </a:pPr>
            <a:r>
              <a:t>判断边界：26S棉平纹单位成本1,189.10元/KG，但累计成本仅131万元；不能仅凭单位成本把它列为第一降本对象。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数据来源：4-8月成本核算汇总表；金额单位：元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05｜数据能回答什么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现在能确认“哪里异常”，还不能确认“异常由谁造成”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把可证实事实和待验证假设分开，避免把数据缺口误报成经营结论。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03520" cy="4297680"/>
          </a:xfrm>
          <a:prstGeom prst="roundRect">
            <a:avLst/>
          </a:prstGeom>
          <a:solidFill>
            <a:srgbClr val="F0F7F6"/>
          </a:solidFill>
          <a:ln>
            <a:solidFill>
              <a:srgbClr val="C5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848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38B8F"/>
                </a:solidFill>
                <a:latin typeface="Microsoft YaHei"/>
              </a:defRPr>
            </a:pPr>
            <a:r>
              <a:t>已证实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834640"/>
            <a:ext cx="91440" cy="9144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743200"/>
            <a:ext cx="4187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6月材料/公斤552.01元，为5个月最高。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429000"/>
            <a:ext cx="91440" cy="9144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337560"/>
            <a:ext cx="4187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8月材料/公斤315.87元，较7月下降35.8%。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023359"/>
            <a:ext cx="91440" cy="9144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931920"/>
            <a:ext cx="4187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前2品种占成本56.2%，改善资源应集中。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617720"/>
            <a:ext cx="91440" cy="9144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4526280"/>
            <a:ext cx="4187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69条原材料金额为0，成本可追溯性不足。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83080"/>
            <a:ext cx="5303520" cy="4297680"/>
          </a:xfrm>
          <a:prstGeom prst="roundRect">
            <a:avLst/>
          </a:prstGeom>
          <a:solidFill>
            <a:srgbClr val="FFF6E5"/>
          </a:solidFill>
          <a:ln>
            <a:solidFill>
              <a:srgbClr val="F2D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0848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5B4B"/>
                </a:solidFill>
                <a:latin typeface="Microsoft YaHei"/>
              </a:defRPr>
            </a:pPr>
            <a:r>
              <a:t>待验证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834640"/>
            <a:ext cx="91440" cy="9144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2743200"/>
            <a:ext cx="4187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材料/公斤变化来自采购价格还是实际用量？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429000"/>
            <a:ext cx="91440" cy="9144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3337560"/>
            <a:ext cx="4187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8月成本下降是否来自产品结构变化？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4023359"/>
            <a:ext cx="91440" cy="9144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3931920"/>
            <a:ext cx="4187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高单位成本是否由小批量分摊造成？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617720"/>
            <a:ext cx="91440" cy="9144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4526280"/>
            <a:ext cx="4187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实际领料是否超过工艺单标准用量？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数据来源：4-8月成本核算汇总表；金额单位：元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06｜改善动作与量化目标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把分析变成可追踪的成本控制闭环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每项动作都要有数据字段、责任人和验收口径。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914400" cy="594360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时间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1828800"/>
            <a:ext cx="1554480" cy="594360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901952"/>
            <a:ext cx="1463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828800"/>
            <a:ext cx="5669280" cy="594360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901952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落地内容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828800"/>
            <a:ext cx="2011680" cy="594360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90195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验收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23160"/>
            <a:ext cx="9144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4963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9月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2423160"/>
            <a:ext cx="15544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2496312"/>
            <a:ext cx="1463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补齐材料链路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80" y="2423160"/>
            <a:ext cx="56692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496312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主力品种绑定订单；记录纱线单价/领料量/标准用量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2423160"/>
            <a:ext cx="2011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49631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完整率≥90%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17520"/>
            <a:ext cx="914400" cy="59436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0906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10月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3017520"/>
            <a:ext cx="1554480" cy="59436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3090672"/>
            <a:ext cx="1463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做材料差异桥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3017520"/>
            <a:ext cx="5669280" cy="59436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3090672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价格差异、用量差异、织损差异分开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23960" y="3017520"/>
            <a:ext cx="2011680" cy="59436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309067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每月可解释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611880"/>
            <a:ext cx="9144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6850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11月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0200" y="3611880"/>
            <a:ext cx="15544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3685032"/>
            <a:ext cx="1463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做重点品种预警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3611880"/>
            <a:ext cx="56692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3685032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前5品种单位材料成本环比&gt;10%自动复核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3611880"/>
            <a:ext cx="2011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368503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异常T+2反馈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572000"/>
            <a:ext cx="10972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63F"/>
                </a:solidFill>
                <a:latin typeface="Microsoft YaHei"/>
              </a:defRPr>
            </a:pPr>
            <a:r>
              <a:t>降本测算原则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2120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先不承诺“年降本金额”。等材料价格、标准用量和实际领料连续运行1个月后，再用前5品种的材料差异计算可兑现的降本空间。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数据来源：4-8月成本核算汇总表；金额单位：元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DBD8"/>
                </a:solidFill>
                <a:latin typeface="Microsoft YaHei"/>
              </a:defRPr>
            </a:pPr>
            <a:r>
              <a:t>07｜需要管理层确认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下一步不是再做一张表，而是让数据在现场产生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194560"/>
            <a:ext cx="502920" cy="50292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3225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128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按订单领料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542032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E5EB"/>
                </a:solidFill>
                <a:latin typeface="Microsoft YaHei"/>
              </a:defRPr>
            </a:pPr>
            <a:r>
              <a:t>生产部配合，先覆盖华棉118D和40D1*1罗纹。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246120"/>
            <a:ext cx="502920" cy="502920"/>
          </a:xfrm>
          <a:prstGeom prst="round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3741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644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材料差异三分法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593591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E5EB"/>
                </a:solidFill>
                <a:latin typeface="Microsoft YaHei"/>
              </a:defRPr>
            </a:pPr>
            <a:r>
              <a:t>财务、采购、生产共同确认价格/用量/织损字段。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297679"/>
            <a:ext cx="502920" cy="50292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425695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31596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月度成本会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645151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E5EB"/>
                </a:solidFill>
                <a:latin typeface="Microsoft YaHei"/>
              </a:defRPr>
            </a:pPr>
            <a:r>
              <a:t>固定复盘前5品种，异常项必须有责任人与动作。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559552"/>
            <a:ext cx="10652760" cy="566928"/>
          </a:xfrm>
          <a:prstGeom prst="roundRect">
            <a:avLst/>
          </a:prstGeom>
          <a:solidFill>
            <a:srgbClr val="1E3953"/>
          </a:solidFill>
          <a:ln>
            <a:solidFill>
              <a:srgbClr val="4A7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742432"/>
            <a:ext cx="10149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DF3F5"/>
                </a:solidFill>
                <a:latin typeface="Microsoft YaHei"/>
              </a:defRPr>
            </a:pPr>
            <a:r>
              <a:t>本版结论：先抓前2个品种，先拆材料差异，先把领料数据做实。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51052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B0BC"/>
                </a:solidFill>
                <a:latin typeface="Microsoft YaHei"/>
              </a:defRPr>
            </a:pPr>
            <a:r>
              <a:t>财务部｜2026年9月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