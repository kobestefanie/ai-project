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1" r:id="rId4"/>
    <p:sldId id="282" r:id="rId5"/>
    <p:sldId id="264" r:id="rId6"/>
    <p:sldId id="265" r:id="rId7"/>
    <p:sldId id="266" r:id="rId8"/>
    <p:sldId id="267" r:id="rId9"/>
    <p:sldId id="268" r:id="rId10"/>
    <p:sldId id="2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第二节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altLang="en-US" sz="3600">
                <a:sym typeface="+mn-ea"/>
              </a:rPr>
              <a:t>重度</a:t>
            </a:r>
            <a:r>
              <a:rPr lang="zh-CN" altLang="en-US" sz="3600">
                <a:sym typeface="+mn-ea"/>
              </a:rPr>
              <a:t>危机干预技术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2800">
                <a:sym typeface="+mn-ea"/>
              </a:rPr>
              <a:t>一、语言中的六大因子：</a:t>
            </a:r>
            <a:r>
              <a:rPr lang="en-US" altLang="zh-CN" sz="2800">
                <a:sym typeface="+mn-ea"/>
              </a:rPr>
              <a:t>S O R P N F</a:t>
            </a:r>
            <a:endParaRPr lang="en-US" altLang="zh-CN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</a:t>
            </a:r>
            <a:r>
              <a:rPr lang="en-US" altLang="zh-CN" sz="1400">
                <a:sym typeface="+mn-ea"/>
              </a:rPr>
              <a:t>SOR </a:t>
            </a:r>
            <a:r>
              <a:rPr lang="zh-CN" altLang="en-US" sz="1400">
                <a:sym typeface="+mn-ea"/>
              </a:rPr>
              <a:t>是心理空间的语言，</a:t>
            </a:r>
            <a:r>
              <a:rPr lang="en-US" altLang="zh-CN" sz="1400">
                <a:sym typeface="+mn-ea"/>
              </a:rPr>
              <a:t>PNF</a:t>
            </a:r>
            <a:r>
              <a:rPr lang="zh-CN" altLang="en-US" sz="1400">
                <a:sym typeface="+mn-ea"/>
              </a:rPr>
              <a:t>是心理时间的语言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、别人想自杀，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不要去问原因</a:t>
            </a:r>
            <a:r>
              <a:rPr lang="zh-CN" altLang="en-US" sz="1400">
                <a:sym typeface="+mn-ea"/>
              </a:rPr>
              <a:t>，而是想想就好，不去做，立刻把想和做分开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）那以前有过这想法吗？【</a:t>
            </a:r>
            <a:r>
              <a:rPr lang="en-US" altLang="zh-CN" sz="1400">
                <a:sym typeface="+mn-ea"/>
              </a:rPr>
              <a:t>PO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）第一次有这个自杀的想法是什么时候？【</a:t>
            </a:r>
            <a:r>
              <a:rPr lang="en-US" altLang="zh-CN" sz="1400">
                <a:sym typeface="+mn-ea"/>
              </a:rPr>
              <a:t>PS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）那时候遇到什么事儿让你有这个想法？【</a:t>
            </a:r>
            <a:r>
              <a:rPr lang="en-US" altLang="zh-CN" sz="1400">
                <a:sym typeface="+mn-ea"/>
              </a:rPr>
              <a:t>PSO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4</a:t>
            </a:r>
            <a:r>
              <a:rPr lang="zh-CN" altLang="en-US" sz="1400">
                <a:sym typeface="+mn-ea"/>
              </a:rPr>
              <a:t>）那个念头出现的时候，你有没有害怕呀？【</a:t>
            </a:r>
            <a:r>
              <a:rPr lang="en-US" altLang="zh-CN" sz="1400">
                <a:sym typeface="+mn-ea"/>
              </a:rPr>
              <a:t>PO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5</a:t>
            </a:r>
            <a:r>
              <a:rPr lang="zh-CN" altLang="en-US" sz="1400">
                <a:sym typeface="+mn-ea"/>
              </a:rPr>
              <a:t>）随后又做了什么呢？【</a:t>
            </a:r>
            <a:r>
              <a:rPr lang="en-US" altLang="zh-CN" sz="1400">
                <a:sym typeface="+mn-ea"/>
              </a:rPr>
              <a:t>PR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6</a:t>
            </a:r>
            <a:r>
              <a:rPr lang="zh-CN" altLang="en-US" sz="1400">
                <a:sym typeface="+mn-ea"/>
              </a:rPr>
              <a:t>）那你有跟爸妈说嘛？【</a:t>
            </a:r>
            <a:r>
              <a:rPr lang="en-US" altLang="zh-CN" sz="1400">
                <a:sym typeface="+mn-ea"/>
              </a:rPr>
              <a:t>PR</a:t>
            </a:r>
            <a:r>
              <a:rPr lang="zh-CN" altLang="en-US" sz="1400">
                <a:sym typeface="+mn-ea"/>
              </a:rPr>
              <a:t>】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7</a:t>
            </a:r>
            <a:r>
              <a:rPr lang="zh-CN" altLang="en-US" sz="1400">
                <a:sym typeface="+mn-ea"/>
              </a:rPr>
              <a:t>）爸爸妈妈的反应是什么？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8</a:t>
            </a:r>
            <a:r>
              <a:rPr lang="zh-CN" sz="1400">
                <a:sym typeface="+mn-ea"/>
              </a:rPr>
              <a:t>）那爸爸妈妈这样说，你感觉怎么样呢？【</a:t>
            </a:r>
            <a:r>
              <a:rPr lang="en-US" altLang="zh-CN" sz="1400">
                <a:sym typeface="+mn-ea"/>
              </a:rPr>
              <a:t>PSO</a:t>
            </a:r>
            <a:r>
              <a:rPr lang="zh-CN" sz="1400">
                <a:sym typeface="+mn-ea"/>
              </a:rPr>
              <a:t>】</a:t>
            </a:r>
            <a:endParaRPr lang="zh-CN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9</a:t>
            </a:r>
            <a:r>
              <a:rPr lang="zh-CN" sz="1400">
                <a:sym typeface="+mn-ea"/>
              </a:rPr>
              <a:t>）那时候有这想法时，如何不去自杀的</a:t>
            </a:r>
            <a:endParaRPr lang="zh-CN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10</a:t>
            </a:r>
            <a:r>
              <a:rPr lang="zh-CN" sz="1400">
                <a:sym typeface="+mn-ea"/>
              </a:rPr>
              <a:t>）那你成功阻止自杀后，人生有没有什么变化</a:t>
            </a:r>
            <a:endParaRPr lang="zh-CN" sz="14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11</a:t>
            </a:r>
            <a:r>
              <a:rPr lang="zh-CN" sz="1400">
                <a:sym typeface="+mn-ea"/>
              </a:rPr>
              <a:t>）那现在发生了什么事呢？让你冒出这个自杀的念头【</a:t>
            </a:r>
            <a:r>
              <a:rPr lang="en-US" altLang="zh-CN" sz="1400">
                <a:sym typeface="+mn-ea"/>
              </a:rPr>
              <a:t>NSR</a:t>
            </a:r>
            <a:r>
              <a:rPr lang="zh-CN" sz="1400">
                <a:sym typeface="+mn-ea"/>
              </a:rPr>
              <a:t>】</a:t>
            </a:r>
            <a:br>
              <a:rPr lang="zh-CN" sz="1400">
                <a:sym typeface="+mn-ea"/>
              </a:rPr>
            </a:br>
            <a:r>
              <a:rPr lang="zh-CN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12</a:t>
            </a:r>
            <a:r>
              <a:rPr lang="zh-CN" sz="1400">
                <a:sym typeface="+mn-ea"/>
              </a:rPr>
              <a:t>）那现在的你如何看待过去引起你自杀的事情呢【</a:t>
            </a:r>
            <a:r>
              <a:rPr lang="en-US" altLang="zh-CN" sz="1400">
                <a:sym typeface="+mn-ea"/>
              </a:rPr>
              <a:t>NOS</a:t>
            </a:r>
            <a:r>
              <a:rPr lang="zh-CN" sz="1400">
                <a:sym typeface="+mn-ea"/>
              </a:rPr>
              <a:t>】</a:t>
            </a:r>
            <a:endParaRPr lang="zh-CN" sz="14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第二节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altLang="en-US" sz="3600">
                <a:sym typeface="+mn-ea"/>
              </a:rPr>
              <a:t>重度</a:t>
            </a:r>
            <a:r>
              <a:rPr lang="zh-CN" altLang="en-US" sz="3600">
                <a:sym typeface="+mn-ea"/>
              </a:rPr>
              <a:t>危机干预技术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2800">
                <a:sym typeface="+mn-ea"/>
              </a:rPr>
              <a:t>一、语言中的六大因子：</a:t>
            </a:r>
            <a:r>
              <a:rPr lang="en-US" altLang="zh-CN" sz="2800">
                <a:sym typeface="+mn-ea"/>
              </a:rPr>
              <a:t>S O R P N F</a:t>
            </a:r>
            <a:endParaRPr lang="en-US" alt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开始打包换楼层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）从过去到现在有好几次要自杀，这样过日子，你有办法不去死吗？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你经历过这么多，太痛苦了，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你会不会觉得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……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【未完成句】让案主随时插话，案主不说，我们就接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死了算了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”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）那你上次你觉得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死了算了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又活了过来，那这次有可能再活过来吗？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）怎么都是要死，你还快乐的起来吗？你一定很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【</a:t>
            </a:r>
            <a:r>
              <a:rPr lang="zh-CN" altLang="en-US" sz="2000">
                <a:sym typeface="+mn-ea"/>
              </a:rPr>
              <a:t>未完成句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】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）这样的不快乐会不会哭，会不会叫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6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）你会想你的家人吗？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）你的家人会想你吗？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案主回复，家人不重要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）不重要多久了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第二节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altLang="en-US" sz="3600">
                <a:sym typeface="+mn-ea"/>
              </a:rPr>
              <a:t>重度</a:t>
            </a:r>
            <a:r>
              <a:rPr lang="zh-CN" altLang="en-US" sz="3600">
                <a:sym typeface="+mn-ea"/>
              </a:rPr>
              <a:t>危机干预技术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2800">
                <a:sym typeface="+mn-ea"/>
              </a:rPr>
              <a:t>一、语言中的六大因子：</a:t>
            </a:r>
            <a:r>
              <a:rPr lang="en-US" altLang="zh-CN" sz="2800">
                <a:sym typeface="+mn-ea"/>
              </a:rPr>
              <a:t>S O R P N F</a:t>
            </a:r>
            <a:endParaRPr lang="en-US" alt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原则：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不能回避，不能害怕谈生死，要与案主谈论生与死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一般重度危机的人，都是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O/SO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语言，进入他的语言，增加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SR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语言有治愈性的去对话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sym typeface="+mn-ea"/>
              </a:rPr>
              <a:t>然后用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打包技术给他换楼层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核心：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都是组合拳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+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情感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895350"/>
            <a:ext cx="8900160" cy="5067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0" y="929640"/>
            <a:ext cx="8915400" cy="4998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60" y="933450"/>
            <a:ext cx="886968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0" y="933450"/>
            <a:ext cx="88011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933450"/>
            <a:ext cx="88773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807720"/>
            <a:ext cx="9105900" cy="52425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4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5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6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7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8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WPS 演示</Application>
  <PresentationFormat>宽屏</PresentationFormat>
  <Paragraphs>37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造音师</cp:lastModifiedBy>
  <cp:revision>159</cp:revision>
  <dcterms:created xsi:type="dcterms:W3CDTF">2019-06-19T02:08:00Z</dcterms:created>
  <dcterms:modified xsi:type="dcterms:W3CDTF">2026-05-21T14:40:19Z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82A31705490E4EF5B90918092E8C57B2_11</vt:lpwstr>
  </property>
</Properties>
</file>