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72" r:id="rId5"/>
    <p:sldId id="273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image" Target="../media/image12.png"/><Relationship Id="rId1" Type="http://schemas.openxmlformats.org/officeDocument/2006/relationships/tags" Target="../tags/tag8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</a:rPr>
              <a:t>第三节</a:t>
            </a:r>
            <a:r>
              <a:rPr lang="en-US" altLang="zh-CN" sz="3600">
                <a:solidFill>
                  <a:schemeClr val="tx1"/>
                </a:solidFill>
              </a:rPr>
              <a:t> </a:t>
            </a:r>
            <a:r>
              <a:rPr lang="zh-CN" altLang="en-US" sz="3600">
                <a:solidFill>
                  <a:schemeClr val="tx1"/>
                </a:solidFill>
              </a:rPr>
              <a:t>急迫</a:t>
            </a:r>
            <a:r>
              <a:rPr lang="zh-CN" altLang="en-US" sz="3600">
                <a:sym typeface="+mn-ea"/>
              </a:rPr>
              <a:t>危机干预技术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2800">
                <a:sym typeface="+mn-ea"/>
              </a:rPr>
              <a:t>一、</a:t>
            </a:r>
            <a:r>
              <a:rPr lang="en-US" sz="2800">
                <a:sym typeface="+mn-ea"/>
              </a:rPr>
              <a:t>NOPQ</a:t>
            </a:r>
            <a:r>
              <a:rPr lang="zh-CN" altLang="en-US" sz="2800">
                <a:sym typeface="+mn-ea"/>
              </a:rPr>
              <a:t>技术</a:t>
            </a:r>
            <a:r>
              <a:rPr lang="en-US" altLang="zh-CN" sz="2800">
                <a:sym typeface="+mn-ea"/>
              </a:rPr>
              <a:t>==</a:t>
            </a:r>
            <a:r>
              <a:rPr lang="zh-CN" altLang="en-US" sz="2800">
                <a:sym typeface="+mn-ea"/>
              </a:rPr>
              <a:t>》</a:t>
            </a:r>
            <a:r>
              <a:rPr lang="en-US" altLang="zh-CN" sz="2800">
                <a:sym typeface="+mn-ea"/>
              </a:rPr>
              <a:t>N</a:t>
            </a:r>
            <a:r>
              <a:rPr lang="zh-CN" altLang="en-US" sz="2800">
                <a:sym typeface="+mn-ea"/>
              </a:rPr>
              <a:t>语言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、流程</a:t>
            </a:r>
            <a:endParaRPr lang="zh-CN" altLang="en-US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一旦失败，转接</a:t>
            </a:r>
            <a:r>
              <a:rPr lang="en-US" altLang="zh-CN">
                <a:sym typeface="+mn-ea"/>
              </a:rPr>
              <a:t>O</a:t>
            </a:r>
            <a:r>
              <a:rPr lang="zh-CN" altLang="en-US">
                <a:sym typeface="+mn-ea"/>
              </a:rPr>
              <a:t>公安局</a:t>
            </a:r>
            <a:endParaRPr lang="zh-CN" altLang="en-US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成功</a:t>
            </a:r>
            <a:r>
              <a:rPr lang="en-US" altLang="zh-CN">
                <a:sym typeface="+mn-ea"/>
              </a:rPr>
              <a:t>==</a:t>
            </a:r>
            <a:r>
              <a:rPr lang="zh-CN" altLang="en-US">
                <a:sym typeface="+mn-ea"/>
              </a:rPr>
              <a:t>》</a:t>
            </a:r>
            <a:r>
              <a:rPr lang="zh-CN" altLang="en-US">
                <a:sym typeface="+mn-ea"/>
              </a:rPr>
              <a:t>询问地址</a:t>
            </a:r>
            <a:r>
              <a:rPr lang="en-US" altLang="zh-CN">
                <a:sym typeface="+mn-ea"/>
              </a:rPr>
              <a:t>==</a:t>
            </a:r>
            <a:r>
              <a:rPr lang="zh-CN" altLang="en-US">
                <a:sym typeface="+mn-ea"/>
              </a:rPr>
              <a:t>》</a:t>
            </a:r>
            <a:r>
              <a:rPr lang="zh-CN" altLang="en-US">
                <a:sym typeface="+mn-ea"/>
              </a:rPr>
              <a:t>保持通话</a:t>
            </a:r>
            <a:r>
              <a:rPr lang="en-US" altLang="zh-CN">
                <a:sym typeface="+mn-ea"/>
              </a:rPr>
              <a:t>==</a:t>
            </a:r>
            <a:r>
              <a:rPr lang="zh-CN" altLang="en-US">
                <a:sym typeface="+mn-ea"/>
              </a:rPr>
              <a:t>》生命等级（</a:t>
            </a:r>
            <a:r>
              <a:rPr lang="en-US" altLang="zh-CN">
                <a:sym typeface="+mn-ea"/>
              </a:rPr>
              <a:t>Y_</a:t>
            </a:r>
            <a:r>
              <a:rPr lang="zh-CN" altLang="en-US">
                <a:sym typeface="+mn-ea"/>
              </a:rPr>
              <a:t>病发失控）</a:t>
            </a:r>
            <a:r>
              <a:rPr lang="en-US" altLang="zh-CN">
                <a:sym typeface="+mn-ea"/>
              </a:rPr>
              <a:t>==</a:t>
            </a:r>
            <a:r>
              <a:rPr lang="zh-CN" altLang="en-US">
                <a:sym typeface="+mn-ea"/>
              </a:rPr>
              <a:t>》生命等级（</a:t>
            </a:r>
            <a:r>
              <a:rPr lang="en-US" altLang="zh-CN">
                <a:sym typeface="+mn-ea"/>
              </a:rPr>
              <a:t>Z_</a:t>
            </a:r>
            <a:r>
              <a:rPr lang="zh-CN" altLang="en-US">
                <a:sym typeface="+mn-ea"/>
              </a:rPr>
              <a:t>自杀行为【前，中，后】）</a:t>
            </a:r>
            <a:r>
              <a:rPr lang="en-US" altLang="zh-CN">
                <a:sym typeface="+mn-ea"/>
              </a:rPr>
              <a:t>==</a:t>
            </a:r>
            <a:r>
              <a:rPr lang="zh-CN" altLang="en-US">
                <a:sym typeface="+mn-ea"/>
              </a:rPr>
              <a:t>》生命等级（</a:t>
            </a:r>
            <a:r>
              <a:rPr lang="en-US" altLang="zh-CN">
                <a:sym typeface="+mn-ea"/>
              </a:rPr>
              <a:t>X_</a:t>
            </a:r>
            <a:r>
              <a:rPr lang="zh-CN" altLang="en-US">
                <a:sym typeface="+mn-ea"/>
              </a:rPr>
              <a:t>立刻去死，现在就死的行为和冲动</a:t>
            </a:r>
            <a:r>
              <a:rPr lang="zh-CN" altLang="en-US" sz="1800">
                <a:sym typeface="+mn-ea"/>
              </a:rPr>
              <a:t>）</a:t>
            </a:r>
            <a:r>
              <a:rPr lang="en-US" altLang="zh-CN" sz="16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》打包往生命等级（</a:t>
            </a:r>
            <a:r>
              <a:rPr lang="en-US" altLang="zh-CN" sz="16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W_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自杀计划和临终安排）</a:t>
            </a:r>
            <a:endParaRPr lang="zh-CN" altLang="en-US" sz="16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==》使用降低危机等级技术==》危机解除==》结案</a:t>
            </a:r>
            <a:endParaRPr lang="zh-CN" altLang="en-US" sz="16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语言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b="1">
                <a:solidFill>
                  <a:schemeClr val="tx1"/>
                </a:solidFill>
                <a:sym typeface="+mn-ea"/>
              </a:rPr>
              <a:t>N1: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我一定要救你，你一定要给我机会救你，你要帮我，请你一定要帮我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sz="1600" b="1">
                <a:solidFill>
                  <a:schemeClr val="tx1"/>
                </a:solidFill>
                <a:sym typeface="+mn-ea"/>
              </a:rPr>
              <a:t>N2: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一定要活下去，我们一定要活下去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==</a:t>
            </a:r>
            <a:r>
              <a:rPr lang="zh-CN" altLang="en-US" sz="16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》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坚决不去帮他做决定，而不是你为什么要自杀，你为什么要死呢</a:t>
            </a:r>
            <a:endParaRPr lang="zh-CN" altLang="en-US" sz="16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b="1">
                <a:solidFill>
                  <a:schemeClr val="tx1"/>
                </a:solidFill>
                <a:sym typeface="+mn-ea"/>
              </a:rPr>
              <a:t>N3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要求移动位置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==</a:t>
            </a:r>
            <a:r>
              <a:rPr lang="zh-CN" altLang="en-US" sz="16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》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N1,N2是为了N3做铺垫，移动位置离开危险区域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b="1">
                <a:solidFill>
                  <a:schemeClr val="tx1"/>
                </a:solidFill>
                <a:sym typeface="+mn-ea"/>
              </a:rPr>
              <a:t>N4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你在哪里（询问地址）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b="1">
                <a:solidFill>
                  <a:schemeClr val="tx1"/>
                </a:solidFill>
                <a:sym typeface="+mn-ea"/>
              </a:rPr>
              <a:t>N5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保持通话（询问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XYZ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70255" y="843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、重音训练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）五个字一个重音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）最后一个字要转换音色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）</a:t>
            </a:r>
            <a:r>
              <a:rPr lang="zh-CN" altLang="en-US" sz="1600">
                <a:sym typeface="+mn-ea"/>
              </a:rPr>
              <a:t>复合句的重音不要在同一位置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）前后两句要转换音色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、询问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XYZ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sz="2800">
                <a:sym typeface="+mn-ea"/>
              </a:rPr>
              <a:t>二、NOPQ技术==》O</a:t>
            </a:r>
            <a:r>
              <a:rPr lang="zh-CN" altLang="en-US" sz="2800">
                <a:sym typeface="+mn-ea"/>
              </a:rPr>
              <a:t>语言</a:t>
            </a:r>
            <a:r>
              <a:rPr lang="en-US" altLang="zh-CN" sz="2800">
                <a:sym typeface="+mn-ea"/>
              </a:rPr>
              <a:t>==</a:t>
            </a:r>
            <a:r>
              <a:rPr lang="zh-CN" altLang="en-US" sz="2800">
                <a:sym typeface="+mn-ea"/>
              </a:rPr>
              <a:t>》转接警察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ym typeface="+mn-ea"/>
              </a:rPr>
              <a:t>三</a:t>
            </a:r>
            <a:r>
              <a:rPr lang="en-US" sz="2800">
                <a:sym typeface="+mn-ea"/>
              </a:rPr>
              <a:t>、NOPQ技术==》P</a:t>
            </a:r>
            <a:r>
              <a:rPr lang="zh-CN" altLang="en-US" sz="2800">
                <a:sym typeface="+mn-ea"/>
              </a:rPr>
              <a:t>语言</a:t>
            </a:r>
            <a:endParaRPr lang="en-US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P1: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禁止自杀行为，转移自杀行为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P2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：要求离开自杀区域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P3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：制止这次自杀行为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==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》</a:t>
            </a:r>
            <a:r>
              <a:rPr lang="zh-CN" altLang="en-US" sz="16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最起码今天活着，最起码这个月活着</a:t>
            </a:r>
            <a:endParaRPr lang="zh-CN" altLang="en-US" sz="1600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70255" y="843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ym typeface="+mn-ea"/>
              </a:rPr>
              <a:t>四、</a:t>
            </a:r>
            <a:r>
              <a:rPr lang="en-US" sz="2800">
                <a:sym typeface="+mn-ea"/>
              </a:rPr>
              <a:t>NOPQ</a:t>
            </a:r>
            <a:r>
              <a:rPr lang="zh-CN" altLang="en-US" sz="2800">
                <a:sym typeface="+mn-ea"/>
              </a:rPr>
              <a:t>技术</a:t>
            </a:r>
            <a:r>
              <a:rPr lang="en-US" altLang="zh-CN" sz="2800">
                <a:sym typeface="+mn-ea"/>
              </a:rPr>
              <a:t>==</a:t>
            </a:r>
            <a:r>
              <a:rPr lang="zh-CN" altLang="en-US" sz="2800">
                <a:sym typeface="+mn-ea"/>
              </a:rPr>
              <a:t>》</a:t>
            </a:r>
            <a:r>
              <a:rPr lang="en-US" altLang="zh-CN" sz="2800">
                <a:sym typeface="+mn-ea"/>
              </a:rPr>
              <a:t>Q</a:t>
            </a:r>
            <a:r>
              <a:rPr lang="zh-CN" altLang="en-US" sz="2800">
                <a:sym typeface="+mn-ea"/>
              </a:rPr>
              <a:t>语言</a:t>
            </a:r>
            <a:r>
              <a:rPr lang="en-US" altLang="zh-CN" sz="2800">
                <a:sym typeface="+mn-ea"/>
              </a:rPr>
              <a:t>==</a:t>
            </a:r>
            <a:r>
              <a:rPr lang="zh-CN" altLang="en-US" sz="2800">
                <a:sym typeface="+mn-ea"/>
              </a:rPr>
              <a:t>》报警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、案主拒绝报警，让接线员来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==</a:t>
            </a:r>
            <a:r>
              <a:rPr lang="zh-CN" altLang="en-US" sz="2000">
                <a:sym typeface="+mn-ea"/>
              </a:rPr>
              <a:t>》干预语言：我来就没人接线了，我会让我们相信的人去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禁忌：坚决不承诺不报警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2、拒绝家人来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==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》重要的是你现在安全，重要的是现在有人要陪在你身边？谁能来陪你呢？</a:t>
            </a: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800">
                <a:sym typeface="+mn-ea"/>
              </a:rPr>
              <a:t>五、自杀是一个人的秘密，是他在人世间最后也最重要的的一件事</a:t>
            </a:r>
            <a:endParaRPr lang="en-US" altLang="zh-CN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转好的表现：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）：小声变大声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）：被动变主动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）：短句变长句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）：怎么死</a:t>
            </a:r>
            <a:r>
              <a:rPr lang="en-US" altLang="zh-CN" sz="2000">
                <a:sym typeface="+mn-ea"/>
              </a:rPr>
              <a:t>==</a:t>
            </a:r>
            <a:r>
              <a:rPr lang="zh-CN" altLang="en-US" sz="2000">
                <a:sym typeface="+mn-ea"/>
              </a:rPr>
              <a:t>》怎么活</a:t>
            </a:r>
            <a:endParaRPr lang="zh-CN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）：从自己</a:t>
            </a:r>
            <a:r>
              <a:rPr lang="en-US" altLang="zh-CN" sz="2000">
                <a:sym typeface="+mn-ea"/>
              </a:rPr>
              <a:t>==</a:t>
            </a:r>
            <a:r>
              <a:rPr lang="zh-CN" altLang="en-US" sz="2000">
                <a:sym typeface="+mn-ea"/>
              </a:rPr>
              <a:t>》他人或物品</a:t>
            </a:r>
            <a:endParaRPr lang="en-US" altLang="zh-CN" sz="20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255" y="716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70255" y="843280"/>
            <a:ext cx="11061700" cy="581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ym typeface="+mn-ea"/>
              </a:rPr>
              <a:t>六、接线要求</a:t>
            </a:r>
            <a:endParaRPr lang="zh-CN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000">
                <a:sym typeface="+mn-ea"/>
              </a:rPr>
              <a:t>得坚决，不能犹豫，不要用敬语</a:t>
            </a:r>
            <a:endParaRPr lang="zh-CN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ym typeface="+mn-ea"/>
              </a:rPr>
              <a:t>七、禁忌语言</a:t>
            </a:r>
            <a:endParaRPr lang="zh-CN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六禁：劝善，归过、哀泣、责骂、质问、抱怨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ym typeface="+mn-ea"/>
              </a:rPr>
              <a:t>八、收集信息时间</a:t>
            </a:r>
            <a:endParaRPr lang="zh-CN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谈生死、喜怒哀乐和悲欢离合，前十五分钟不收集信息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ym typeface="+mn-ea"/>
              </a:rPr>
              <a:t>九、其他</a:t>
            </a:r>
            <a:endParaRPr lang="zh-CN" sz="2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急迫个案，是否报警和回拨追踪由督导决定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28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个案追踪：每四小时回拨，时间上午十点到晚上十点</a:t>
            </a:r>
            <a:endParaRPr lang="zh-CN" sz="2800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3540" y="941070"/>
            <a:ext cx="8884920" cy="49758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918210"/>
            <a:ext cx="8831580" cy="5021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967740"/>
            <a:ext cx="8839200" cy="49225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933450"/>
            <a:ext cx="883920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60" y="929640"/>
            <a:ext cx="8869680" cy="4998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918210"/>
            <a:ext cx="8831580" cy="5021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933450"/>
            <a:ext cx="887730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902970"/>
            <a:ext cx="8877300" cy="50520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956310"/>
            <a:ext cx="8877300" cy="49453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0" y="933450"/>
            <a:ext cx="891540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914400"/>
            <a:ext cx="8763000" cy="5029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02460" y="1490345"/>
            <a:ext cx="8380095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914400"/>
            <a:ext cx="8877300" cy="5029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3540" y="933450"/>
            <a:ext cx="888492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0" y="933450"/>
            <a:ext cx="8915400" cy="499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4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5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6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7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68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69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70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71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72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73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321166"/>
  <p:tag name="KSO_WM_SLIDE_THEME_NAME" val="黄色棱形简约风主题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0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</Words>
  <Application>WPS 演示</Application>
  <PresentationFormat>宽屏</PresentationFormat>
  <Paragraphs>50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造音师</cp:lastModifiedBy>
  <cp:revision>157</cp:revision>
  <dcterms:created xsi:type="dcterms:W3CDTF">2019-06-19T02:08:00Z</dcterms:created>
  <dcterms:modified xsi:type="dcterms:W3CDTF">2026-05-21T18:09:25Z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FA33FB626FB14798A145DEDF881E3F2A_11</vt:lpwstr>
  </property>
</Properties>
</file>