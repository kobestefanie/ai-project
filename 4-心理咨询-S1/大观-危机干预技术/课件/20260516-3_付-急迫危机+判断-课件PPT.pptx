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7" r:id="rId3"/>
    <p:sldId id="264" r:id="rId4"/>
    <p:sldId id="258" r:id="rId5"/>
    <p:sldId id="259" r:id="rId6"/>
    <p:sldId id="261" r:id="rId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viewProps" Target="viewProps.xml"/><Relationship Id="rId8" Type="http://schemas.openxmlformats.org/officeDocument/2006/relationships/presProps" Target="presProps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0" Type="http://schemas.openxmlformats.org/officeDocument/2006/relationships/tableStyles" Target="tableStyles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64.xml"/><Relationship Id="rId1" Type="http://schemas.openxmlformats.org/officeDocument/2006/relationships/tags" Target="../tags/tag6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66.xml"/><Relationship Id="rId1" Type="http://schemas.openxmlformats.org/officeDocument/2006/relationships/tags" Target="../tags/tag6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67.xml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68.xml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69.xml"/><Relationship Id="rId1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文本框 5"/>
          <p:cNvSpPr txBox="1"/>
          <p:nvPr>
            <p:custDataLst>
              <p:tags r:id="rId1"/>
            </p:custDataLst>
          </p:nvPr>
        </p:nvSpPr>
        <p:spPr>
          <a:xfrm>
            <a:off x="643255" y="716280"/>
            <a:ext cx="11061700" cy="58108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>
              <a:lnSpc>
                <a:spcPct val="150000"/>
              </a:lnSpc>
            </a:pPr>
            <a:r>
              <a:rPr lang="zh-CN" altLang="en-US" sz="3600">
                <a:solidFill>
                  <a:schemeClr val="tx1"/>
                </a:solidFill>
              </a:rPr>
              <a:t>第四节</a:t>
            </a:r>
            <a:r>
              <a:rPr lang="en-US" altLang="zh-CN" sz="3600">
                <a:solidFill>
                  <a:schemeClr val="tx1"/>
                </a:solidFill>
              </a:rPr>
              <a:t> </a:t>
            </a:r>
            <a:r>
              <a:rPr lang="zh-CN" sz="3600">
                <a:solidFill>
                  <a:schemeClr val="tx1"/>
                </a:solidFill>
              </a:rPr>
              <a:t>生命等级危机表（</a:t>
            </a:r>
            <a:r>
              <a:rPr lang="en-US" altLang="zh-CN" sz="3600">
                <a:solidFill>
                  <a:schemeClr val="tx1"/>
                </a:solidFill>
              </a:rPr>
              <a:t>2</a:t>
            </a:r>
            <a:r>
              <a:rPr lang="zh-CN" sz="3600">
                <a:solidFill>
                  <a:schemeClr val="tx1"/>
                </a:solidFill>
              </a:rPr>
              <a:t>）</a:t>
            </a:r>
            <a:endParaRPr lang="zh-CN" sz="3600">
              <a:solidFill>
                <a:schemeClr val="tx1"/>
              </a:solidFill>
            </a:endParaRPr>
          </a:p>
          <a:p>
            <a:pPr algn="l">
              <a:lnSpc>
                <a:spcPct val="150000"/>
              </a:lnSpc>
            </a:pPr>
            <a:r>
              <a:rPr lang="zh-CN" altLang="en-US" sz="2800">
                <a:solidFill>
                  <a:schemeClr val="tx1"/>
                </a:solidFill>
              </a:rPr>
              <a:t>一、</a:t>
            </a:r>
            <a:r>
              <a:rPr lang="zh-CN" sz="2800">
                <a:solidFill>
                  <a:schemeClr val="tx1"/>
                </a:solidFill>
              </a:rPr>
              <a:t>生命等级危机表（</a:t>
            </a:r>
            <a:r>
              <a:rPr lang="en-US" altLang="zh-CN" sz="2800">
                <a:solidFill>
                  <a:schemeClr val="tx1"/>
                </a:solidFill>
              </a:rPr>
              <a:t>2</a:t>
            </a:r>
            <a:r>
              <a:rPr lang="zh-CN" sz="2800">
                <a:solidFill>
                  <a:schemeClr val="tx1"/>
                </a:solidFill>
              </a:rPr>
              <a:t>）</a:t>
            </a:r>
            <a:endParaRPr lang="zh-CN" altLang="en-US" sz="2800">
              <a:solidFill>
                <a:schemeClr val="tx1"/>
              </a:solidFill>
            </a:endParaRPr>
          </a:p>
          <a:p>
            <a:pPr algn="l">
              <a:lnSpc>
                <a:spcPct val="150000"/>
              </a:lnSpc>
            </a:pPr>
            <a:r>
              <a:rPr lang="en-US" sz="2000">
                <a:solidFill>
                  <a:schemeClr val="tx1"/>
                </a:solidFill>
              </a:rPr>
              <a:t>1</a:t>
            </a:r>
            <a:r>
              <a:rPr lang="zh-CN" altLang="en-US" sz="2000">
                <a:solidFill>
                  <a:schemeClr val="tx1"/>
                </a:solidFill>
              </a:rPr>
              <a:t>、</a:t>
            </a:r>
            <a:r>
              <a:rPr lang="zh-CN" sz="2000">
                <a:solidFill>
                  <a:schemeClr val="tx1"/>
                </a:solidFill>
              </a:rPr>
              <a:t>急迫危机</a:t>
            </a:r>
            <a:r>
              <a:rPr lang="en-US" altLang="zh-CN" sz="2000">
                <a:solidFill>
                  <a:schemeClr val="tx1"/>
                </a:solidFill>
              </a:rPr>
              <a:t>==</a:t>
            </a:r>
            <a:r>
              <a:rPr lang="zh-CN" altLang="en-US" sz="2000">
                <a:solidFill>
                  <a:schemeClr val="tx1"/>
                </a:solidFill>
              </a:rPr>
              <a:t>》</a:t>
            </a:r>
            <a:r>
              <a:rPr lang="zh-CN" altLang="en-US" sz="2000" b="1">
                <a:solidFill>
                  <a:srgbClr val="FF0000"/>
                </a:solidFill>
                <a:highlight>
                  <a:srgbClr val="FFFF00"/>
                </a:highlight>
              </a:rPr>
              <a:t>他自己无法阻止自杀，他希望你来阻止他，他不相信自己，相信你，一个陌生人</a:t>
            </a:r>
            <a:endParaRPr lang="zh-CN" altLang="en-US" sz="2000" b="1">
              <a:solidFill>
                <a:srgbClr val="FF0000"/>
              </a:solidFill>
              <a:highlight>
                <a:srgbClr val="FFFF00"/>
              </a:highlight>
            </a:endParaRPr>
          </a:p>
          <a:p>
            <a:pPr algn="l">
              <a:lnSpc>
                <a:spcPct val="150000"/>
              </a:lnSpc>
            </a:pPr>
            <a:r>
              <a:rPr lang="zh-CN" altLang="en-US" sz="2800">
                <a:sym typeface="+mn-ea"/>
              </a:rPr>
              <a:t>二、</a:t>
            </a:r>
            <a:r>
              <a:rPr lang="zh-CN" sz="2800">
                <a:sym typeface="+mn-ea"/>
              </a:rPr>
              <a:t>生命等级危机表评估与诊断</a:t>
            </a:r>
            <a:endParaRPr lang="zh-CN" sz="2800">
              <a:sym typeface="+mn-ea"/>
            </a:endParaRPr>
          </a:p>
          <a:p>
            <a:pPr algn="l">
              <a:lnSpc>
                <a:spcPct val="150000"/>
              </a:lnSpc>
            </a:pPr>
            <a:r>
              <a:rPr lang="zh-CN" altLang="en-US" sz="2000" b="1">
                <a:solidFill>
                  <a:srgbClr val="FF0000"/>
                </a:solidFill>
                <a:highlight>
                  <a:srgbClr val="FFFF00"/>
                </a:highlight>
                <a:sym typeface="+mn-ea"/>
              </a:rPr>
              <a:t>前十五分钟：事件陈述阶段</a:t>
            </a:r>
            <a:endParaRPr lang="zh-CN" altLang="en-US" sz="2000" b="1">
              <a:solidFill>
                <a:srgbClr val="FF0000"/>
              </a:solidFill>
              <a:highlight>
                <a:srgbClr val="FFFF00"/>
              </a:highlight>
              <a:sym typeface="+mn-ea"/>
            </a:endParaRPr>
          </a:p>
          <a:p>
            <a:pPr algn="l">
              <a:lnSpc>
                <a:spcPct val="150000"/>
              </a:lnSpc>
            </a:pPr>
            <a:r>
              <a:rPr lang="en-US" altLang="zh-CN" sz="2000" b="1">
                <a:solidFill>
                  <a:srgbClr val="FF0000"/>
                </a:solidFill>
                <a:highlight>
                  <a:srgbClr val="FFFF00"/>
                </a:highlight>
                <a:sym typeface="+mn-ea"/>
              </a:rPr>
              <a:t>1</a:t>
            </a:r>
            <a:r>
              <a:rPr lang="zh-CN" altLang="en-US" sz="2000" b="1">
                <a:solidFill>
                  <a:srgbClr val="FF0000"/>
                </a:solidFill>
                <a:highlight>
                  <a:srgbClr val="FFFF00"/>
                </a:highlight>
                <a:sym typeface="+mn-ea"/>
              </a:rPr>
              <a:t>、建立有疗效的咨访关系</a:t>
            </a:r>
            <a:endParaRPr lang="zh-CN" altLang="en-US" sz="2000" b="1">
              <a:solidFill>
                <a:srgbClr val="FF0000"/>
              </a:solidFill>
              <a:highlight>
                <a:srgbClr val="FFFF00"/>
              </a:highlight>
              <a:sym typeface="+mn-ea"/>
            </a:endParaRPr>
          </a:p>
          <a:p>
            <a:pPr algn="l">
              <a:lnSpc>
                <a:spcPct val="150000"/>
              </a:lnSpc>
            </a:pPr>
            <a:r>
              <a:rPr lang="en-US" altLang="zh-CN" sz="2000" b="1">
                <a:solidFill>
                  <a:srgbClr val="FF0000"/>
                </a:solidFill>
                <a:highlight>
                  <a:srgbClr val="FFFF00"/>
                </a:highlight>
                <a:sym typeface="+mn-ea"/>
              </a:rPr>
              <a:t>2</a:t>
            </a:r>
            <a:r>
              <a:rPr lang="zh-CN" altLang="en-US" sz="2000" b="1">
                <a:solidFill>
                  <a:srgbClr val="FF0000"/>
                </a:solidFill>
                <a:highlight>
                  <a:srgbClr val="FFFF00"/>
                </a:highlight>
                <a:sym typeface="+mn-ea"/>
              </a:rPr>
              <a:t>、做生命危机等级诊断</a:t>
            </a:r>
            <a:r>
              <a:rPr lang="en-US" altLang="zh-CN" sz="2000" b="1">
                <a:solidFill>
                  <a:srgbClr val="FF0000"/>
                </a:solidFill>
                <a:highlight>
                  <a:srgbClr val="FFFF00"/>
                </a:highlight>
                <a:sym typeface="+mn-ea"/>
              </a:rPr>
              <a:t>==</a:t>
            </a:r>
            <a:r>
              <a:rPr lang="zh-CN" altLang="en-US" sz="2000" b="1">
                <a:solidFill>
                  <a:srgbClr val="FF0000"/>
                </a:solidFill>
                <a:highlight>
                  <a:srgbClr val="FFFF00"/>
                </a:highlight>
                <a:sym typeface="+mn-ea"/>
              </a:rPr>
              <a:t>》</a:t>
            </a:r>
            <a:r>
              <a:rPr lang="zh-CN" altLang="en-US" sz="2000">
                <a:solidFill>
                  <a:schemeClr val="tx1"/>
                </a:solidFill>
                <a:sym typeface="+mn-ea"/>
              </a:rPr>
              <a:t>从核心问题入手：是否有生命危机</a:t>
            </a:r>
            <a:r>
              <a:rPr lang="en-US" altLang="zh-CN" sz="2000" b="1">
                <a:solidFill>
                  <a:schemeClr val="tx1"/>
                </a:solidFill>
                <a:sym typeface="+mn-ea"/>
              </a:rPr>
              <a:t>==</a:t>
            </a:r>
            <a:r>
              <a:rPr lang="zh-CN" altLang="en-US" sz="2000" b="1">
                <a:solidFill>
                  <a:schemeClr val="tx1"/>
                </a:solidFill>
                <a:sym typeface="+mn-ea"/>
              </a:rPr>
              <a:t>》</a:t>
            </a:r>
            <a:r>
              <a:rPr lang="zh-CN" altLang="en-US" sz="2000" b="1">
                <a:solidFill>
                  <a:srgbClr val="FF0000"/>
                </a:solidFill>
                <a:highlight>
                  <a:srgbClr val="FFFF00"/>
                </a:highlight>
                <a:sym typeface="+mn-ea"/>
              </a:rPr>
              <a:t>四句话（不想活了，死了算了，我要自杀，非死不可）只能判断是否在生命等级危机表上，具体什么程度，不能简单依据这四句话</a:t>
            </a:r>
            <a:r>
              <a:rPr lang="en-US" altLang="zh-CN" sz="2000" b="1">
                <a:solidFill>
                  <a:srgbClr val="FF0000"/>
                </a:solidFill>
                <a:highlight>
                  <a:srgbClr val="FFFF00"/>
                </a:highlight>
                <a:sym typeface="+mn-ea"/>
              </a:rPr>
              <a:t>==</a:t>
            </a:r>
            <a:r>
              <a:rPr lang="zh-CN" altLang="en-US" sz="2000" b="1">
                <a:solidFill>
                  <a:srgbClr val="FF0000"/>
                </a:solidFill>
                <a:highlight>
                  <a:srgbClr val="FFFF00"/>
                </a:highlight>
                <a:sym typeface="+mn-ea"/>
              </a:rPr>
              <a:t>》</a:t>
            </a:r>
            <a:r>
              <a:rPr lang="zh-CN" altLang="en-US" sz="2000">
                <a:solidFill>
                  <a:schemeClr val="tx1"/>
                </a:solidFill>
                <a:sym typeface="+mn-ea"/>
              </a:rPr>
              <a:t>要去听字背后的含义</a:t>
            </a:r>
            <a:r>
              <a:rPr lang="en-US" altLang="zh-CN" sz="2000" b="1">
                <a:solidFill>
                  <a:schemeClr val="tx1"/>
                </a:solidFill>
                <a:sym typeface="+mn-ea"/>
              </a:rPr>
              <a:t>==</a:t>
            </a:r>
            <a:r>
              <a:rPr lang="zh-CN" altLang="en-US" sz="2000" b="1">
                <a:solidFill>
                  <a:schemeClr val="tx1"/>
                </a:solidFill>
                <a:sym typeface="+mn-ea"/>
              </a:rPr>
              <a:t>》</a:t>
            </a:r>
            <a:r>
              <a:rPr lang="zh-CN" altLang="en-US" sz="2000" b="1">
                <a:solidFill>
                  <a:srgbClr val="FF0000"/>
                </a:solidFill>
                <a:highlight>
                  <a:srgbClr val="FFFF00"/>
                </a:highlight>
                <a:sym typeface="+mn-ea"/>
              </a:rPr>
              <a:t>其程度是由</a:t>
            </a:r>
            <a:r>
              <a:rPr lang="en-US" altLang="zh-CN" sz="2000" b="1">
                <a:solidFill>
                  <a:srgbClr val="FF0000"/>
                </a:solidFill>
                <a:highlight>
                  <a:srgbClr val="FFFF00"/>
                </a:highlight>
                <a:sym typeface="+mn-ea"/>
              </a:rPr>
              <a:t>S1,S2,S3,S4</a:t>
            </a:r>
            <a:r>
              <a:rPr lang="zh-CN" altLang="en-US" sz="2000" b="1">
                <a:solidFill>
                  <a:srgbClr val="FF0000"/>
                </a:solidFill>
                <a:highlight>
                  <a:srgbClr val="FFFF00"/>
                </a:highlight>
                <a:sym typeface="+mn-ea"/>
              </a:rPr>
              <a:t>决定的</a:t>
            </a:r>
            <a:endParaRPr lang="zh-CN" altLang="en-US" sz="2000" b="1">
              <a:solidFill>
                <a:srgbClr val="FF0000"/>
              </a:solidFill>
              <a:highlight>
                <a:srgbClr val="FFFF00"/>
              </a:highlight>
              <a:sym typeface="+mn-ea"/>
            </a:endParaRPr>
          </a:p>
          <a:p>
            <a:pPr algn="l">
              <a:lnSpc>
                <a:spcPct val="150000"/>
              </a:lnSpc>
            </a:pPr>
            <a:r>
              <a:rPr lang="zh-CN" altLang="en-US" sz="2000">
                <a:solidFill>
                  <a:schemeClr val="tx1"/>
                </a:solidFill>
                <a:sym typeface="+mn-ea"/>
              </a:rPr>
              <a:t>两者必须搞定</a:t>
            </a:r>
            <a:endParaRPr lang="zh-CN" altLang="en-US" sz="2000">
              <a:solidFill>
                <a:schemeClr val="tx1"/>
              </a:solidFill>
              <a:sym typeface="+mn-ea"/>
            </a:endParaRPr>
          </a:p>
          <a:p>
            <a:pPr algn="l">
              <a:lnSpc>
                <a:spcPct val="150000"/>
              </a:lnSpc>
              <a:buClrTx/>
              <a:buSzTx/>
              <a:buFontTx/>
            </a:pPr>
            <a:endParaRPr lang="zh-CN" altLang="en-US" sz="2000" b="1">
              <a:solidFill>
                <a:srgbClr val="FF0000"/>
              </a:solidFill>
              <a:highlight>
                <a:srgbClr val="FFFF00"/>
              </a:highlight>
              <a:sym typeface="+mn-ea"/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文本框 5"/>
          <p:cNvSpPr txBox="1"/>
          <p:nvPr>
            <p:custDataLst>
              <p:tags r:id="rId1"/>
            </p:custDataLst>
          </p:nvPr>
        </p:nvSpPr>
        <p:spPr>
          <a:xfrm>
            <a:off x="643255" y="716280"/>
            <a:ext cx="11061700" cy="58108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>
              <a:lnSpc>
                <a:spcPct val="150000"/>
              </a:lnSpc>
            </a:pPr>
            <a:r>
              <a:rPr lang="zh-CN" altLang="en-US" sz="3600">
                <a:solidFill>
                  <a:schemeClr val="tx1"/>
                </a:solidFill>
              </a:rPr>
              <a:t>第四节</a:t>
            </a:r>
            <a:r>
              <a:rPr lang="en-US" altLang="zh-CN" sz="3600">
                <a:solidFill>
                  <a:schemeClr val="tx1"/>
                </a:solidFill>
              </a:rPr>
              <a:t> </a:t>
            </a:r>
            <a:r>
              <a:rPr lang="zh-CN" sz="3600">
                <a:solidFill>
                  <a:schemeClr val="tx1"/>
                </a:solidFill>
              </a:rPr>
              <a:t>生命危机</a:t>
            </a:r>
            <a:r>
              <a:rPr lang="zh-CN" sz="3600">
                <a:sym typeface="+mn-ea"/>
              </a:rPr>
              <a:t>等级</a:t>
            </a:r>
            <a:r>
              <a:rPr lang="zh-CN" sz="3600">
                <a:solidFill>
                  <a:schemeClr val="tx1"/>
                </a:solidFill>
              </a:rPr>
              <a:t>表（</a:t>
            </a:r>
            <a:r>
              <a:rPr lang="en-US" altLang="zh-CN" sz="3600">
                <a:solidFill>
                  <a:schemeClr val="tx1"/>
                </a:solidFill>
              </a:rPr>
              <a:t>2</a:t>
            </a:r>
            <a:r>
              <a:rPr lang="zh-CN" sz="3600">
                <a:solidFill>
                  <a:schemeClr val="tx1"/>
                </a:solidFill>
              </a:rPr>
              <a:t>）</a:t>
            </a:r>
            <a:endParaRPr lang="zh-CN" sz="3600">
              <a:solidFill>
                <a:schemeClr val="tx1"/>
              </a:solidFill>
            </a:endParaRPr>
          </a:p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zh-CN" sz="2000">
                <a:sym typeface="+mn-ea"/>
              </a:rPr>
              <a:t>三、怎么用生命危机等级表和评估</a:t>
            </a:r>
            <a:endParaRPr lang="zh-CN" sz="2000">
              <a:sym typeface="+mn-ea"/>
            </a:endParaRPr>
          </a:p>
          <a:p>
            <a:pPr algn="l">
              <a:lnSpc>
                <a:spcPct val="150000"/>
              </a:lnSpc>
            </a:pPr>
            <a:r>
              <a:rPr lang="en-US" altLang="zh-CN" sz="1400" b="1">
                <a:solidFill>
                  <a:srgbClr val="FF0000"/>
                </a:solidFill>
                <a:highlight>
                  <a:srgbClr val="FFFF00"/>
                </a:highlight>
                <a:sym typeface="+mn-ea"/>
              </a:rPr>
              <a:t>1</a:t>
            </a:r>
            <a:r>
              <a:rPr lang="zh-CN" altLang="en-US" sz="1400" b="1">
                <a:solidFill>
                  <a:srgbClr val="FF0000"/>
                </a:solidFill>
                <a:highlight>
                  <a:srgbClr val="FFFF00"/>
                </a:highlight>
                <a:sym typeface="+mn-ea"/>
              </a:rPr>
              <a:t>、怎么用==》①将案主的话对应成逐字稿，说一句对应一个生命危机等级表来做；</a:t>
            </a:r>
            <a:endParaRPr lang="zh-CN" altLang="en-US" sz="1400" b="1">
              <a:solidFill>
                <a:srgbClr val="FF0000"/>
              </a:solidFill>
              <a:highlight>
                <a:srgbClr val="FFFF00"/>
              </a:highlight>
              <a:sym typeface="+mn-ea"/>
            </a:endParaRPr>
          </a:p>
          <a:p>
            <a:pPr algn="l">
              <a:lnSpc>
                <a:spcPct val="150000"/>
              </a:lnSpc>
            </a:pPr>
            <a:r>
              <a:rPr lang="zh-CN" altLang="en-US" sz="1400" b="1">
                <a:solidFill>
                  <a:srgbClr val="FF0000"/>
                </a:solidFill>
                <a:highlight>
                  <a:srgbClr val="FFFF00"/>
                </a:highlight>
                <a:sym typeface="+mn-ea"/>
              </a:rPr>
              <a:t>②因为生命危机等级会跳来跳去，以连续被勾选的以最后的落脚点的等级为标准的动态评估，否则易高估或易被低估</a:t>
            </a:r>
            <a:endParaRPr lang="zh-CN" altLang="en-US" sz="1400" b="1">
              <a:solidFill>
                <a:srgbClr val="FF0000"/>
              </a:solidFill>
              <a:highlight>
                <a:srgbClr val="FFFF00"/>
              </a:highlight>
              <a:sym typeface="+mn-ea"/>
            </a:endParaRPr>
          </a:p>
          <a:p>
            <a:pPr algn="l">
              <a:lnSpc>
                <a:spcPct val="150000"/>
              </a:lnSpc>
            </a:pPr>
            <a:r>
              <a:rPr lang="en-US" altLang="zh-CN" sz="2000">
                <a:sym typeface="+mn-ea"/>
              </a:rPr>
              <a:t>2</a:t>
            </a:r>
            <a:r>
              <a:rPr lang="zh-CN" altLang="en-US" sz="2000">
                <a:sym typeface="+mn-ea"/>
              </a:rPr>
              <a:t>、怎么判断案主已经陈述完事件：三标志</a:t>
            </a:r>
            <a:endParaRPr lang="zh-CN" altLang="en-US" sz="2000">
              <a:solidFill>
                <a:schemeClr val="tx1"/>
              </a:solidFill>
              <a:sym typeface="+mn-ea"/>
            </a:endParaRPr>
          </a:p>
          <a:p>
            <a:pPr algn="l">
              <a:lnSpc>
                <a:spcPct val="150000"/>
              </a:lnSpc>
            </a:pPr>
            <a:r>
              <a:rPr lang="zh-CN" altLang="en-US" sz="1400">
                <a:sym typeface="+mn-ea"/>
              </a:rPr>
              <a:t>（</a:t>
            </a:r>
            <a:r>
              <a:rPr lang="en-US" altLang="zh-CN" sz="1400">
                <a:sym typeface="+mn-ea"/>
              </a:rPr>
              <a:t>1</a:t>
            </a:r>
            <a:r>
              <a:rPr lang="zh-CN" altLang="en-US" sz="1400">
                <a:sym typeface="+mn-ea"/>
              </a:rPr>
              <a:t>）案主直接问怎么办</a:t>
            </a:r>
            <a:endParaRPr lang="zh-CN" altLang="en-US" sz="1400">
              <a:solidFill>
                <a:schemeClr val="tx1"/>
              </a:solidFill>
              <a:sym typeface="+mn-ea"/>
            </a:endParaRPr>
          </a:p>
          <a:p>
            <a:pPr algn="l">
              <a:lnSpc>
                <a:spcPct val="150000"/>
              </a:lnSpc>
            </a:pPr>
            <a:r>
              <a:rPr lang="zh-CN" altLang="en-US" sz="1400">
                <a:sym typeface="+mn-ea"/>
              </a:rPr>
              <a:t>（</a:t>
            </a:r>
            <a:r>
              <a:rPr lang="en-US" altLang="zh-CN" sz="1400">
                <a:sym typeface="+mn-ea"/>
              </a:rPr>
              <a:t>2</a:t>
            </a:r>
            <a:r>
              <a:rPr lang="zh-CN" altLang="en-US" sz="1400">
                <a:sym typeface="+mn-ea"/>
              </a:rPr>
              <a:t>）案主重复了</a:t>
            </a:r>
            <a:endParaRPr lang="zh-CN" altLang="en-US" sz="1400">
              <a:solidFill>
                <a:schemeClr val="tx1"/>
              </a:solidFill>
              <a:sym typeface="+mn-ea"/>
            </a:endParaRPr>
          </a:p>
          <a:p>
            <a:pPr algn="l">
              <a:lnSpc>
                <a:spcPct val="150000"/>
              </a:lnSpc>
            </a:pPr>
            <a:r>
              <a:rPr lang="zh-CN" altLang="en-US" sz="1400">
                <a:sym typeface="+mn-ea"/>
              </a:rPr>
              <a:t>（</a:t>
            </a:r>
            <a:r>
              <a:rPr lang="en-US" altLang="zh-CN" sz="1400">
                <a:sym typeface="+mn-ea"/>
              </a:rPr>
              <a:t>3</a:t>
            </a:r>
            <a:r>
              <a:rPr lang="zh-CN" altLang="en-US" sz="1400">
                <a:sym typeface="+mn-ea"/>
              </a:rPr>
              <a:t>）即使案主十五分钟还没陈述完，但也已经证明陈述结束了</a:t>
            </a:r>
            <a:endParaRPr lang="zh-CN" altLang="en-US" sz="1400">
              <a:solidFill>
                <a:schemeClr val="tx1"/>
              </a:solidFill>
              <a:sym typeface="+mn-ea"/>
            </a:endParaRPr>
          </a:p>
          <a:p>
            <a:pPr algn="l">
              <a:lnSpc>
                <a:spcPct val="150000"/>
              </a:lnSpc>
            </a:pPr>
            <a:r>
              <a:rPr lang="en-US" altLang="zh-CN" sz="2000">
                <a:sym typeface="+mn-ea"/>
              </a:rPr>
              <a:t>3</a:t>
            </a:r>
            <a:r>
              <a:rPr lang="zh-CN" altLang="en-US" sz="2000">
                <a:sym typeface="+mn-ea"/>
              </a:rPr>
              <a:t>、时间管理</a:t>
            </a:r>
            <a:endParaRPr lang="zh-CN" altLang="en-US" sz="2000">
              <a:solidFill>
                <a:schemeClr val="tx1"/>
              </a:solidFill>
              <a:sym typeface="+mn-ea"/>
            </a:endParaRPr>
          </a:p>
          <a:p>
            <a:pPr algn="l">
              <a:lnSpc>
                <a:spcPct val="150000"/>
              </a:lnSpc>
            </a:pPr>
            <a:r>
              <a:rPr lang="zh-CN" altLang="en-US" sz="1400" b="1">
                <a:highlight>
                  <a:srgbClr val="FFFF00"/>
                </a:highlight>
                <a:sym typeface="+mn-ea"/>
              </a:rPr>
              <a:t>（</a:t>
            </a:r>
            <a:r>
              <a:rPr lang="en-US" altLang="zh-CN" sz="1400" b="1">
                <a:highlight>
                  <a:srgbClr val="FFFF00"/>
                </a:highlight>
                <a:sym typeface="+mn-ea"/>
              </a:rPr>
              <a:t>1</a:t>
            </a:r>
            <a:r>
              <a:rPr lang="zh-CN" altLang="en-US" sz="1400" b="1">
                <a:highlight>
                  <a:srgbClr val="FFFF00"/>
                </a:highlight>
                <a:sym typeface="+mn-ea"/>
              </a:rPr>
              <a:t>）轻度</a:t>
            </a:r>
            <a:r>
              <a:rPr lang="en-US" altLang="zh-CN" sz="1400" b="1">
                <a:highlight>
                  <a:srgbClr val="FFFF00"/>
                </a:highlight>
                <a:sym typeface="+mn-ea"/>
              </a:rPr>
              <a:t>+</a:t>
            </a:r>
            <a:r>
              <a:rPr lang="zh-CN" altLang="en-US" sz="1400" b="1">
                <a:highlight>
                  <a:srgbClr val="FFFF00"/>
                </a:highlight>
                <a:sym typeface="+mn-ea"/>
              </a:rPr>
              <a:t>中度（</a:t>
            </a:r>
            <a:r>
              <a:rPr lang="en-US" altLang="zh-CN" sz="1400" b="1">
                <a:highlight>
                  <a:srgbClr val="FFFF00"/>
                </a:highlight>
                <a:sym typeface="+mn-ea"/>
              </a:rPr>
              <a:t>A</a:t>
            </a:r>
            <a:r>
              <a:rPr lang="zh-CN" altLang="en-US" sz="1400" b="1">
                <a:highlight>
                  <a:srgbClr val="FFFF00"/>
                </a:highlight>
                <a:sym typeface="+mn-ea"/>
              </a:rPr>
              <a:t>到</a:t>
            </a:r>
            <a:r>
              <a:rPr lang="en-US" altLang="zh-CN" sz="1400" b="1">
                <a:highlight>
                  <a:srgbClr val="FFFF00"/>
                </a:highlight>
                <a:sym typeface="+mn-ea"/>
              </a:rPr>
              <a:t>P</a:t>
            </a:r>
            <a:r>
              <a:rPr lang="zh-CN" altLang="en-US" sz="1400" b="1">
                <a:highlight>
                  <a:srgbClr val="FFFF00"/>
                </a:highlight>
                <a:sym typeface="+mn-ea"/>
              </a:rPr>
              <a:t>）</a:t>
            </a:r>
            <a:r>
              <a:rPr lang="en-US" altLang="zh-CN" sz="1400" b="1">
                <a:highlight>
                  <a:srgbClr val="FFFF00"/>
                </a:highlight>
                <a:sym typeface="+mn-ea"/>
              </a:rPr>
              <a:t>==</a:t>
            </a:r>
            <a:r>
              <a:rPr lang="zh-CN" altLang="en-US" sz="1400" b="1">
                <a:highlight>
                  <a:srgbClr val="FFFF00"/>
                </a:highlight>
                <a:sym typeface="+mn-ea"/>
              </a:rPr>
              <a:t>》心理咨询</a:t>
            </a:r>
            <a:r>
              <a:rPr lang="en-US" altLang="zh-CN" sz="1400" b="1">
                <a:highlight>
                  <a:srgbClr val="FFFF00"/>
                </a:highlight>
                <a:sym typeface="+mn-ea"/>
              </a:rPr>
              <a:t>==</a:t>
            </a:r>
            <a:r>
              <a:rPr lang="zh-CN" altLang="en-US" sz="1400" b="1">
                <a:highlight>
                  <a:srgbClr val="FFFF00"/>
                </a:highlight>
                <a:sym typeface="+mn-ea"/>
              </a:rPr>
              <a:t>》</a:t>
            </a:r>
            <a:r>
              <a:rPr lang="en-US" altLang="zh-CN" sz="1400" b="1">
                <a:highlight>
                  <a:srgbClr val="FFFF00"/>
                </a:highlight>
                <a:sym typeface="+mn-ea"/>
              </a:rPr>
              <a:t>30</a:t>
            </a:r>
            <a:r>
              <a:rPr lang="zh-CN" altLang="en-US" sz="1400" b="1">
                <a:highlight>
                  <a:srgbClr val="FFFF00"/>
                </a:highlight>
                <a:sym typeface="+mn-ea"/>
              </a:rPr>
              <a:t>分钟之内结案</a:t>
            </a:r>
            <a:endParaRPr lang="zh-CN" altLang="en-US" sz="1400" b="1">
              <a:solidFill>
                <a:schemeClr val="tx1"/>
              </a:solidFill>
              <a:highlight>
                <a:srgbClr val="FFFF00"/>
              </a:highlight>
              <a:sym typeface="+mn-ea"/>
            </a:endParaRPr>
          </a:p>
          <a:p>
            <a:pPr algn="l">
              <a:lnSpc>
                <a:spcPct val="150000"/>
              </a:lnSpc>
            </a:pPr>
            <a:r>
              <a:rPr lang="zh-CN" altLang="en-US" sz="1400" b="1">
                <a:highlight>
                  <a:srgbClr val="FFFF00"/>
                </a:highlight>
                <a:sym typeface="+mn-ea"/>
              </a:rPr>
              <a:t>（</a:t>
            </a:r>
            <a:r>
              <a:rPr lang="en-US" altLang="zh-CN" sz="1400" b="1">
                <a:highlight>
                  <a:srgbClr val="FFFF00"/>
                </a:highlight>
                <a:sym typeface="+mn-ea"/>
              </a:rPr>
              <a:t>2</a:t>
            </a:r>
            <a:r>
              <a:rPr lang="zh-CN" altLang="en-US" sz="1400" b="1">
                <a:highlight>
                  <a:srgbClr val="FFFF00"/>
                </a:highlight>
                <a:sym typeface="+mn-ea"/>
              </a:rPr>
              <a:t>）重度（</a:t>
            </a:r>
            <a:r>
              <a:rPr lang="en-US" altLang="zh-CN" sz="1400" b="1">
                <a:highlight>
                  <a:srgbClr val="FFFF00"/>
                </a:highlight>
                <a:sym typeface="+mn-ea"/>
              </a:rPr>
              <a:t>Q</a:t>
            </a:r>
            <a:r>
              <a:rPr lang="zh-CN" altLang="en-US" sz="1400" b="1">
                <a:highlight>
                  <a:srgbClr val="FFFF00"/>
                </a:highlight>
                <a:sym typeface="+mn-ea"/>
              </a:rPr>
              <a:t>到</a:t>
            </a:r>
            <a:r>
              <a:rPr lang="en-US" altLang="zh-CN" sz="1400" b="1">
                <a:highlight>
                  <a:srgbClr val="FFFF00"/>
                </a:highlight>
                <a:sym typeface="+mn-ea"/>
              </a:rPr>
              <a:t>W</a:t>
            </a:r>
            <a:r>
              <a:rPr lang="zh-CN" altLang="en-US" sz="1400" b="1">
                <a:highlight>
                  <a:srgbClr val="FFFF00"/>
                </a:highlight>
                <a:sym typeface="+mn-ea"/>
              </a:rPr>
              <a:t>）</a:t>
            </a:r>
            <a:r>
              <a:rPr lang="en-US" altLang="zh-CN" sz="1400" b="1">
                <a:highlight>
                  <a:srgbClr val="FFFF00"/>
                </a:highlight>
                <a:sym typeface="+mn-ea"/>
              </a:rPr>
              <a:t>==</a:t>
            </a:r>
            <a:r>
              <a:rPr lang="zh-CN" altLang="en-US" sz="1400" b="1">
                <a:highlight>
                  <a:srgbClr val="FFFF00"/>
                </a:highlight>
                <a:sym typeface="+mn-ea"/>
              </a:rPr>
              <a:t>》降低危机等级</a:t>
            </a:r>
            <a:r>
              <a:rPr lang="en-US" altLang="zh-CN" sz="1400" b="1">
                <a:highlight>
                  <a:srgbClr val="FFFF00"/>
                </a:highlight>
                <a:sym typeface="+mn-ea"/>
              </a:rPr>
              <a:t>==</a:t>
            </a:r>
            <a:r>
              <a:rPr lang="zh-CN" altLang="en-US" sz="1400" b="1">
                <a:highlight>
                  <a:srgbClr val="FFFF00"/>
                </a:highlight>
                <a:sym typeface="+mn-ea"/>
              </a:rPr>
              <a:t>》</a:t>
            </a:r>
            <a:r>
              <a:rPr lang="en-US" altLang="zh-CN" sz="1400" b="1">
                <a:highlight>
                  <a:srgbClr val="FFFF00"/>
                </a:highlight>
                <a:sym typeface="+mn-ea"/>
              </a:rPr>
              <a:t>60</a:t>
            </a:r>
            <a:r>
              <a:rPr lang="zh-CN" altLang="en-US" sz="1400" b="1">
                <a:highlight>
                  <a:srgbClr val="FFFF00"/>
                </a:highlight>
                <a:sym typeface="+mn-ea"/>
              </a:rPr>
              <a:t>分钟之内结案</a:t>
            </a:r>
            <a:endParaRPr lang="zh-CN" altLang="en-US" sz="1400" b="1">
              <a:solidFill>
                <a:schemeClr val="tx1"/>
              </a:solidFill>
              <a:highlight>
                <a:srgbClr val="FFFF00"/>
              </a:highlight>
              <a:sym typeface="+mn-ea"/>
            </a:endParaRPr>
          </a:p>
          <a:p>
            <a:pPr algn="l">
              <a:lnSpc>
                <a:spcPct val="150000"/>
              </a:lnSpc>
            </a:pPr>
            <a:r>
              <a:rPr lang="zh-CN" altLang="en-US" sz="1400" b="1">
                <a:highlight>
                  <a:srgbClr val="FFFF00"/>
                </a:highlight>
                <a:sym typeface="+mn-ea"/>
              </a:rPr>
              <a:t>（</a:t>
            </a:r>
            <a:r>
              <a:rPr lang="en-US" altLang="zh-CN" sz="1400" b="1">
                <a:highlight>
                  <a:srgbClr val="FFFF00"/>
                </a:highlight>
                <a:sym typeface="+mn-ea"/>
              </a:rPr>
              <a:t>3</a:t>
            </a:r>
            <a:r>
              <a:rPr lang="zh-CN" altLang="en-US" sz="1400" b="1">
                <a:highlight>
                  <a:srgbClr val="FFFF00"/>
                </a:highlight>
                <a:sym typeface="+mn-ea"/>
              </a:rPr>
              <a:t>）急迫（</a:t>
            </a:r>
            <a:r>
              <a:rPr lang="en-US" altLang="zh-CN" sz="1400" b="1">
                <a:highlight>
                  <a:srgbClr val="FFFF00"/>
                </a:highlight>
                <a:sym typeface="+mn-ea"/>
              </a:rPr>
              <a:t>X</a:t>
            </a:r>
            <a:r>
              <a:rPr lang="zh-CN" altLang="en-US" sz="1400" b="1">
                <a:highlight>
                  <a:srgbClr val="FFFF00"/>
                </a:highlight>
                <a:sym typeface="+mn-ea"/>
              </a:rPr>
              <a:t>到</a:t>
            </a:r>
            <a:r>
              <a:rPr lang="en-US" altLang="zh-CN" sz="1400" b="1">
                <a:highlight>
                  <a:srgbClr val="FFFF00"/>
                </a:highlight>
                <a:sym typeface="+mn-ea"/>
              </a:rPr>
              <a:t>Z</a:t>
            </a:r>
            <a:r>
              <a:rPr lang="zh-CN" altLang="en-US" sz="1400" b="1">
                <a:highlight>
                  <a:srgbClr val="FFFF00"/>
                </a:highlight>
                <a:sym typeface="+mn-ea"/>
              </a:rPr>
              <a:t>）</a:t>
            </a:r>
            <a:r>
              <a:rPr lang="en-US" altLang="zh-CN" sz="1400" b="1">
                <a:highlight>
                  <a:srgbClr val="FFFF00"/>
                </a:highlight>
                <a:sym typeface="+mn-ea"/>
              </a:rPr>
              <a:t>==</a:t>
            </a:r>
            <a:r>
              <a:rPr lang="zh-CN" altLang="en-US" sz="1400" b="1">
                <a:highlight>
                  <a:srgbClr val="FFFF00"/>
                </a:highlight>
                <a:sym typeface="+mn-ea"/>
              </a:rPr>
              <a:t>》救下来才能挂断</a:t>
            </a:r>
            <a:endParaRPr lang="zh-CN" altLang="en-US" sz="1400" b="1">
              <a:solidFill>
                <a:schemeClr val="tx1"/>
              </a:solidFill>
              <a:highlight>
                <a:srgbClr val="FFFF00"/>
              </a:highlight>
              <a:sym typeface="+mn-ea"/>
            </a:endParaRPr>
          </a:p>
          <a:p>
            <a:pPr algn="l">
              <a:lnSpc>
                <a:spcPct val="150000"/>
              </a:lnSpc>
            </a:pPr>
            <a:endParaRPr lang="zh-CN" altLang="en-US" sz="2000" b="1">
              <a:solidFill>
                <a:schemeClr val="tx1"/>
              </a:solidFill>
              <a:highlight>
                <a:srgbClr val="FFFF00"/>
              </a:highlight>
              <a:sym typeface="+mn-ea"/>
            </a:endParaRPr>
          </a:p>
          <a:p>
            <a:pPr algn="l">
              <a:lnSpc>
                <a:spcPct val="150000"/>
              </a:lnSpc>
            </a:pPr>
            <a:endParaRPr lang="zh-CN" altLang="en-US" sz="2000" b="1">
              <a:solidFill>
                <a:schemeClr val="tx1"/>
              </a:solidFill>
              <a:highlight>
                <a:srgbClr val="FFFF00"/>
              </a:highlight>
              <a:sym typeface="+mn-ea"/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4910" y="681990"/>
            <a:ext cx="9822180" cy="549402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19200" y="704850"/>
            <a:ext cx="9753600" cy="544830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1100" y="647700"/>
            <a:ext cx="9829800" cy="556260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INDEX" val="6"/>
  <p:tag name="KSO_WM_UNIT_TYPE" val="f"/>
  <p:tag name="KSO_WM_BEAUTIFY_FLAG" val="#wm#"/>
  <p:tag name="KSO_WM_UNIT_SUBTYPE" val="a"/>
</p:tagLst>
</file>

<file path=ppt/tags/tag64.xml><?xml version="1.0" encoding="utf-8"?>
<p:tagLst xmlns:p="http://schemas.openxmlformats.org/presentationml/2006/main">
  <p:tag name="KSO_WM_SLIDE_TYPE" val="text"/>
  <p:tag name="KSO_WM_BEAUTIFY_FLAG" val="#wm#"/>
  <p:tag name="KSO_WM_SLIDE_ID" val="custom20233290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3.0"/>
  <p:tag name="KSO_WM_TEMPLATE_CATEGORY" val="custom"/>
  <p:tag name="KSO_WM_TEMPLATE_INDEX" val="20233290"/>
  <p:tag name="KSO_WM_SLIDE_SUBTYPE" val="pureTxt"/>
  <p:tag name="KSO_WM_SLIDE_SIZE" val="850*457"/>
  <p:tag name="KSO_WM_SLIDE_POSITION" val="54*28"/>
  <p:tag name="KSO_WM_SLIDE_LAYOUT" val="a_f"/>
  <p:tag name="KSO_WM_SLIDE_LAYOUT_CNT" val="1_1"/>
  <p:tag name="KSO_WM_SPECIAL_SOURCE" val="bdnull"/>
  <p:tag name="KSO_WM_SLIDE_THEME_ID" val="3321166"/>
  <p:tag name="KSO_WM_SLIDE_THEME_NAME" val="黄色棱形简约风主题"/>
</p:tagLst>
</file>

<file path=ppt/tags/tag65.xml><?xml version="1.0" encoding="utf-8"?>
<p:tagLst xmlns:p="http://schemas.openxmlformats.org/presentationml/2006/main">
  <p:tag name="KSO_WM_UNIT_INDEX" val="6"/>
  <p:tag name="KSO_WM_UNIT_TYPE" val="f"/>
  <p:tag name="KSO_WM_BEAUTIFY_FLAG" val="#wm#"/>
  <p:tag name="KSO_WM_UNIT_SUBTYPE" val="a"/>
</p:tagLst>
</file>

<file path=ppt/tags/tag66.xml><?xml version="1.0" encoding="utf-8"?>
<p:tagLst xmlns:p="http://schemas.openxmlformats.org/presentationml/2006/main">
  <p:tag name="KSO_WM_SLIDE_TYPE" val="text"/>
  <p:tag name="KSO_WM_BEAUTIFY_FLAG" val="#wm#"/>
  <p:tag name="KSO_WM_SLIDE_ID" val="custom20233290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3.0"/>
  <p:tag name="KSO_WM_TEMPLATE_CATEGORY" val="custom"/>
  <p:tag name="KSO_WM_TEMPLATE_INDEX" val="20233290"/>
  <p:tag name="KSO_WM_SLIDE_SUBTYPE" val="pureTxt"/>
  <p:tag name="KSO_WM_SLIDE_SIZE" val="850*457"/>
  <p:tag name="KSO_WM_SLIDE_POSITION" val="54*28"/>
  <p:tag name="KSO_WM_SLIDE_LAYOUT" val="a_f"/>
  <p:tag name="KSO_WM_SLIDE_LAYOUT_CNT" val="1_1"/>
  <p:tag name="KSO_WM_SPECIAL_SOURCE" val="bdnull"/>
  <p:tag name="KSO_WM_SLIDE_THEME_ID" val="3321166"/>
  <p:tag name="KSO_WM_SLIDE_THEME_NAME" val="黄色棱形简约风主题"/>
</p:tagLst>
</file>

<file path=ppt/tags/tag67.xml><?xml version="1.0" encoding="utf-8"?>
<p:tagLst xmlns:p="http://schemas.openxmlformats.org/presentationml/2006/main">
  <p:tag name="KSO_WM_SLIDE_TYPE" val="text"/>
  <p:tag name="KSO_WM_BEAUTIFY_FLAG" val="#wm#"/>
  <p:tag name="KSO_WM_SLIDE_ID" val="custom20233290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3.0"/>
  <p:tag name="KSO_WM_TEMPLATE_CATEGORY" val="custom"/>
  <p:tag name="KSO_WM_TEMPLATE_INDEX" val="20233290"/>
  <p:tag name="KSO_WM_SLIDE_SUBTYPE" val="pureTxt"/>
  <p:tag name="KSO_WM_SLIDE_SIZE" val="850*457"/>
  <p:tag name="KSO_WM_SLIDE_POSITION" val="54*28"/>
  <p:tag name="KSO_WM_SLIDE_LAYOUT" val="a_f"/>
  <p:tag name="KSO_WM_SLIDE_LAYOUT_CNT" val="1_1"/>
  <p:tag name="KSO_WM_SPECIAL_SOURCE" val="bdnull"/>
  <p:tag name="KSO_WM_SLIDE_THEME_ID" val="3321166"/>
  <p:tag name="KSO_WM_SLIDE_THEME_NAME" val="黄色棱形简约风主题"/>
</p:tagLst>
</file>

<file path=ppt/tags/tag68.xml><?xml version="1.0" encoding="utf-8"?>
<p:tagLst xmlns:p="http://schemas.openxmlformats.org/presentationml/2006/main">
  <p:tag name="KSO_WM_SLIDE_TYPE" val="text"/>
  <p:tag name="KSO_WM_BEAUTIFY_FLAG" val="#wm#"/>
  <p:tag name="KSO_WM_SLIDE_ID" val="custom20233290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3.0"/>
  <p:tag name="KSO_WM_TEMPLATE_CATEGORY" val="custom"/>
  <p:tag name="KSO_WM_TEMPLATE_INDEX" val="20233290"/>
  <p:tag name="KSO_WM_SLIDE_SUBTYPE" val="pureTxt"/>
  <p:tag name="KSO_WM_SLIDE_SIZE" val="850*457"/>
  <p:tag name="KSO_WM_SLIDE_POSITION" val="54*28"/>
  <p:tag name="KSO_WM_SLIDE_LAYOUT" val="a_f"/>
  <p:tag name="KSO_WM_SLIDE_LAYOUT_CNT" val="1_1"/>
  <p:tag name="KSO_WM_SPECIAL_SOURCE" val="bdnull"/>
  <p:tag name="KSO_WM_SLIDE_THEME_ID" val="3321166"/>
  <p:tag name="KSO_WM_SLIDE_THEME_NAME" val="黄色棱形简约风主题"/>
</p:tagLst>
</file>

<file path=ppt/tags/tag69.xml><?xml version="1.0" encoding="utf-8"?>
<p:tagLst xmlns:p="http://schemas.openxmlformats.org/presentationml/2006/main">
  <p:tag name="KSO_WM_SLIDE_TYPE" val="text"/>
  <p:tag name="KSO_WM_BEAUTIFY_FLAG" val="#wm#"/>
  <p:tag name="KSO_WM_SLIDE_ID" val="custom20233290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3.0"/>
  <p:tag name="KSO_WM_TEMPLATE_CATEGORY" val="custom"/>
  <p:tag name="KSO_WM_TEMPLATE_INDEX" val="20233290"/>
  <p:tag name="KSO_WM_SLIDE_SUBTYPE" val="pureTxt"/>
  <p:tag name="KSO_WM_SLIDE_SIZE" val="850*457"/>
  <p:tag name="KSO_WM_SLIDE_POSITION" val="54*28"/>
  <p:tag name="KSO_WM_SLIDE_LAYOUT" val="a_f"/>
  <p:tag name="KSO_WM_SLIDE_LAYOUT_CNT" val="1_1"/>
  <p:tag name="KSO_WM_SPECIAL_SOURCE" val="bdnull"/>
  <p:tag name="KSO_WM_SLIDE_THEME_ID" val="3321166"/>
  <p:tag name="KSO_WM_SLIDE_THEME_NAME" val="黄色棱形简约风主题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508</Words>
  <Application>WPS 演示</Application>
  <PresentationFormat>宽屏</PresentationFormat>
  <Paragraphs>25</Paragraphs>
  <Slides>5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13" baseType="lpstr">
      <vt:lpstr>Arial</vt:lpstr>
      <vt:lpstr>宋体</vt:lpstr>
      <vt:lpstr>Wingdings</vt:lpstr>
      <vt:lpstr>Wingdings</vt:lpstr>
      <vt:lpstr>微软雅黑</vt:lpstr>
      <vt:lpstr>Arial Unicode MS</vt:lpstr>
      <vt:lpstr>Calibri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>Administrator</dc:creator>
  <cp:lastModifiedBy>造音师</cp:lastModifiedBy>
  <cp:revision>158</cp:revision>
  <dcterms:created xsi:type="dcterms:W3CDTF">2019-06-19T02:08:00Z</dcterms:created>
  <dcterms:modified xsi:type="dcterms:W3CDTF">2026-05-19T16:35:40Z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2052-12.1.0.26375</vt:lpwstr>
  </property>
  <property fmtid="{D5CDD505-2E9C-101B-9397-08002B2CF9AE}" pid="3" name="ICV">
    <vt:lpwstr>25EDA03D5F58453E908D3A92785C0ED5_11</vt:lpwstr>
  </property>
</Properties>
</file>